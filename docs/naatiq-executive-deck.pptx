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we turn a WhatsApp voice note into a structured, searchable candidate profile — for the part of the workforce that has experience but no CV.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a supply problem the audience already feels: they cannot search what was never written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makes it their problem rather than a charity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honesty line out loud. Executives discount decks that claim scale they do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Analytics and programme revenue only work if consent and aggregation are handled properly — see the guardrails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saying: the whole system was built with Claude Cowork, which is why the gap between the two columns is small and closes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3D"/>
        </a:solidFill>
      </p:bgPr>
    </p:bg>
    <p:spTree>
      <p:nvGrpSpPr>
        <p:cNvPr id="1" name=""/>
        <p:cNvGrpSpPr/>
        <p:nvPr/>
      </p:nvGrpSpPr>
      <p:grpSpPr>
        <a:xfrm>
          <a:off x="0" y="0"/>
          <a:ext cx="0" cy="0"/>
          <a:chOff x="0" y="0"/>
          <a:chExt cx="0" cy="0"/>
        </a:xfrm>
      </p:grpSpPr>
      <p:sp>
        <p:nvSpPr>
          <p:cNvPr id="2" name="Shape 0"/>
          <p:cNvSpPr/>
          <p:nvPr/>
        </p:nvSpPr>
        <p:spPr>
          <a:xfrm>
            <a:off x="640080" y="1965960"/>
            <a:ext cx="658368" cy="658368"/>
          </a:xfrm>
          <a:prstGeom prst="roundRect">
            <a:avLst>
              <a:gd name="adj" fmla="val 22222"/>
            </a:avLst>
          </a:prstGeom>
          <a:solidFill>
            <a:srgbClr val="16C89A"/>
          </a:solidFill>
          <a:ln w="12700">
            <a:solidFill>
              <a:srgbClr val="16C89A"/>
            </a:solidFill>
            <a:prstDash val="solid"/>
          </a:ln>
        </p:spPr>
      </p:sp>
      <p:sp>
        <p:nvSpPr>
          <p:cNvPr id="3" name="Text 1"/>
          <p:cNvSpPr/>
          <p:nvPr/>
        </p:nvSpPr>
        <p:spPr>
          <a:xfrm>
            <a:off x="640080" y="1965960"/>
            <a:ext cx="658368" cy="658368"/>
          </a:xfrm>
          <a:prstGeom prst="rect">
            <a:avLst/>
          </a:prstGeom>
          <a:noFill/>
          <a:ln/>
        </p:spPr>
        <p:txBody>
          <a:bodyPr wrap="square" lIns="0" tIns="0" rIns="0" bIns="0" rtlCol="0" anchor="ctr"/>
          <a:lstStyle/>
          <a:p>
            <a:pPr algn="ctr" indent="0" marL="0">
              <a:buNone/>
            </a:pPr>
            <a:r>
              <a:rPr lang="en-US" sz="3000" b="1" dirty="0">
                <a:solidFill>
                  <a:srgbClr val="0F1B3D"/>
                </a:solidFill>
                <a:latin typeface="Calibri" pitchFamily="34" charset="0"/>
                <a:ea typeface="Calibri" pitchFamily="34" charset="-122"/>
                <a:cs typeface="Calibri" pitchFamily="34" charset="-120"/>
              </a:rPr>
              <a:t>N</a:t>
            </a:r>
            <a:endParaRPr lang="en-US" sz="3000" dirty="0"/>
          </a:p>
        </p:txBody>
      </p:sp>
      <p:sp>
        <p:nvSpPr>
          <p:cNvPr id="4" name="Text 2"/>
          <p:cNvSpPr/>
          <p:nvPr/>
        </p:nvSpPr>
        <p:spPr>
          <a:xfrm>
            <a:off x="1508760" y="1993392"/>
            <a:ext cx="5486400" cy="64008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Naatiq</a:t>
            </a:r>
            <a:endParaRPr lang="en-US" sz="4000" dirty="0"/>
          </a:p>
        </p:txBody>
      </p:sp>
      <p:sp>
        <p:nvSpPr>
          <p:cNvPr id="5" name="Text 3"/>
          <p:cNvSpPr/>
          <p:nvPr/>
        </p:nvSpPr>
        <p:spPr>
          <a:xfrm>
            <a:off x="640080" y="2971800"/>
            <a:ext cx="10058400" cy="73152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Voice in. Career out.</a:t>
            </a:r>
            <a:endParaRPr lang="en-US" sz="4400" dirty="0"/>
          </a:p>
        </p:txBody>
      </p:sp>
      <p:sp>
        <p:nvSpPr>
          <p:cNvPr id="6" name="Text 4"/>
          <p:cNvSpPr/>
          <p:nvPr/>
        </p:nvSpPr>
        <p:spPr>
          <a:xfrm>
            <a:off x="640080" y="3794760"/>
            <a:ext cx="8778240" cy="457200"/>
          </a:xfrm>
          <a:prstGeom prst="rect">
            <a:avLst/>
          </a:prstGeom>
          <a:noFill/>
          <a:ln/>
        </p:spPr>
        <p:txBody>
          <a:bodyPr wrap="square" lIns="0" tIns="0" rIns="0" bIns="0" rtlCol="0" anchor="ctr"/>
          <a:lstStyle/>
          <a:p>
            <a:pPr indent="0" marL="0">
              <a:buNone/>
            </a:pPr>
            <a:r>
              <a:rPr lang="en-US" sz="1700" dirty="0">
                <a:solidFill>
                  <a:srgbClr val="BFCCE5"/>
                </a:solidFill>
                <a:latin typeface="Calibri" pitchFamily="34" charset="0"/>
                <a:ea typeface="Calibri" pitchFamily="34" charset="-122"/>
                <a:cs typeface="Calibri" pitchFamily="34" charset="-120"/>
              </a:rPr>
              <a:t>A voice-first hiring pipeline for the workers your database cannot see.</a:t>
            </a:r>
            <a:endParaRPr lang="en-US" sz="1700" dirty="0"/>
          </a:p>
        </p:txBody>
      </p:sp>
      <p:sp>
        <p:nvSpPr>
          <p:cNvPr id="7" name="Text 5"/>
          <p:cNvSpPr/>
          <p:nvPr/>
        </p:nvSpPr>
        <p:spPr>
          <a:xfrm>
            <a:off x="640080" y="4370832"/>
            <a:ext cx="8778240" cy="320040"/>
          </a:xfrm>
          <a:prstGeom prst="rect">
            <a:avLst/>
          </a:prstGeom>
          <a:noFill/>
          <a:ln/>
        </p:spPr>
        <p:txBody>
          <a:bodyPr wrap="square" lIns="0" tIns="0" rIns="0" bIns="0" rtlCol="0" anchor="ctr"/>
          <a:lstStyle/>
          <a:p>
            <a:pPr indent="0" marL="0">
              <a:buNone/>
            </a:pPr>
            <a:r>
              <a:rPr lang="en-US" sz="1400" b="1" dirty="0">
                <a:solidFill>
                  <a:srgbClr val="16C89A"/>
                </a:solidFill>
                <a:latin typeface="Calibri" pitchFamily="34" charset="0"/>
                <a:ea typeface="Calibri" pitchFamily="34" charset="-122"/>
                <a:cs typeface="Calibri" pitchFamily="34" charset="-120"/>
              </a:rPr>
              <a:t>Designed and built end to end with Claude Cowork.</a:t>
            </a:r>
            <a:endParaRPr lang="en-US" sz="1400" dirty="0"/>
          </a:p>
        </p:txBody>
      </p:sp>
      <p:sp>
        <p:nvSpPr>
          <p:cNvPr id="8" name="Text 6"/>
          <p:cNvSpPr/>
          <p:nvPr/>
        </p:nvSpPr>
        <p:spPr>
          <a:xfrm>
            <a:off x="640080" y="5897880"/>
            <a:ext cx="8229600" cy="274320"/>
          </a:xfrm>
          <a:prstGeom prst="rect">
            <a:avLst/>
          </a:prstGeom>
          <a:noFill/>
          <a:ln/>
        </p:spPr>
        <p:txBody>
          <a:bodyPr wrap="square" lIns="0" tIns="0" rIns="0" bIns="0" rtlCol="0" anchor="ctr"/>
          <a:lstStyle/>
          <a:p>
            <a:pPr indent="0" marL="0">
              <a:buNone/>
            </a:pPr>
            <a:r>
              <a:rPr lang="en-US" sz="1200" dirty="0">
                <a:solidFill>
                  <a:srgbClr val="A6ADB8"/>
                </a:solidFill>
                <a:latin typeface="Calibri" pitchFamily="34" charset="0"/>
                <a:ea typeface="Calibri" pitchFamily="34" charset="-122"/>
                <a:cs typeface="Calibri" pitchFamily="34" charset="-120"/>
              </a:rPr>
              <a:t>Karam Judeh   ·   Rahma Al Sharif   ·   Abderrahim Laghmari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F5FFF"/>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640080" y="658368"/>
            <a:ext cx="10881360" cy="658368"/>
          </a:xfrm>
          <a:prstGeom prst="rect">
            <a:avLst/>
          </a:prstGeom>
          <a:noFill/>
          <a:ln/>
        </p:spPr>
        <p:txBody>
          <a:bodyPr wrap="square" lIns="0" tIns="0" rIns="0" bIns="0" rtlCol="0" anchor="ctr"/>
          <a:lstStyle/>
          <a:p>
            <a:pPr indent="0" marL="0">
              <a:buNone/>
            </a:pPr>
            <a:r>
              <a:rPr lang="en-US" sz="3400" b="1" dirty="0">
                <a:solidFill>
                  <a:srgbClr val="0F1B3D"/>
                </a:solidFill>
                <a:latin typeface="Calibri" pitchFamily="34" charset="0"/>
                <a:ea typeface="Calibri" pitchFamily="34" charset="-122"/>
                <a:cs typeface="Calibri" pitchFamily="34" charset="-120"/>
              </a:rPr>
              <a:t>The workforce you cannot search</a:t>
            </a:r>
            <a:endParaRPr lang="en-US" sz="3400" dirty="0"/>
          </a:p>
        </p:txBody>
      </p:sp>
      <p:sp>
        <p:nvSpPr>
          <p:cNvPr id="4" name="Text 2"/>
          <p:cNvSpPr/>
          <p:nvPr/>
        </p:nvSpPr>
        <p:spPr>
          <a:xfrm>
            <a:off x="640080" y="1335024"/>
            <a:ext cx="10332720" cy="457200"/>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Domestic workers, drivers, cooks, electricians, salon technicians, delivery riders, security guards.</a:t>
            </a:r>
            <a:endParaRPr lang="en-US" sz="1500" dirty="0"/>
          </a:p>
        </p:txBody>
      </p:sp>
      <p:sp>
        <p:nvSpPr>
          <p:cNvPr id="5" name="Shape 3"/>
          <p:cNvSpPr/>
          <p:nvPr/>
        </p:nvSpPr>
        <p:spPr>
          <a:xfrm>
            <a:off x="640080" y="2148840"/>
            <a:ext cx="3474720" cy="2286000"/>
          </a:xfrm>
          <a:prstGeom prst="roundRect">
            <a:avLst>
              <a:gd name="adj" fmla="val 5600"/>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6" name="Shape 4"/>
          <p:cNvSpPr/>
          <p:nvPr/>
        </p:nvSpPr>
        <p:spPr>
          <a:xfrm>
            <a:off x="932688" y="2468880"/>
            <a:ext cx="457200" cy="457200"/>
          </a:xfrm>
          <a:prstGeom prst="ellipse">
            <a:avLst/>
          </a:prstGeom>
          <a:solidFill>
            <a:srgbClr val="2F5FFF"/>
          </a:solidFill>
          <a:ln w="12700">
            <a:solidFill>
              <a:srgbClr val="2F5FFF"/>
            </a:solidFill>
            <a:prstDash val="solid"/>
          </a:ln>
        </p:spPr>
      </p:sp>
      <p:sp>
        <p:nvSpPr>
          <p:cNvPr id="7" name="Text 5"/>
          <p:cNvSpPr/>
          <p:nvPr/>
        </p:nvSpPr>
        <p:spPr>
          <a:xfrm>
            <a:off x="932688" y="24688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932688" y="3063240"/>
            <a:ext cx="2834640" cy="320040"/>
          </a:xfrm>
          <a:prstGeom prst="rect">
            <a:avLst/>
          </a:prstGeom>
          <a:noFill/>
          <a:ln/>
        </p:spPr>
        <p:txBody>
          <a:bodyPr wrap="square" lIns="0" tIns="0" rIns="0" bIns="0" rtlCol="0" anchor="ctr"/>
          <a:lstStyle/>
          <a:p>
            <a:pPr indent="0" marL="0">
              <a:buNone/>
            </a:pPr>
            <a:r>
              <a:rPr lang="en-US" sz="1700" b="1" dirty="0">
                <a:solidFill>
                  <a:srgbClr val="0F1B3D"/>
                </a:solidFill>
                <a:latin typeface="Calibri" pitchFamily="34" charset="0"/>
                <a:ea typeface="Calibri" pitchFamily="34" charset="-122"/>
                <a:cs typeface="Calibri" pitchFamily="34" charset="-120"/>
              </a:rPr>
              <a:t>No CV</a:t>
            </a:r>
            <a:endParaRPr lang="en-US" sz="1700" dirty="0"/>
          </a:p>
        </p:txBody>
      </p:sp>
      <p:sp>
        <p:nvSpPr>
          <p:cNvPr id="9" name="Text 7"/>
          <p:cNvSpPr/>
          <p:nvPr/>
        </p:nvSpPr>
        <p:spPr>
          <a:xfrm>
            <a:off x="932688" y="3429000"/>
            <a:ext cx="2926080" cy="82296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Ten or more years of real experience, none of it documented anywhere.</a:t>
            </a:r>
            <a:endParaRPr lang="en-US" sz="1300" dirty="0"/>
          </a:p>
        </p:txBody>
      </p:sp>
      <p:sp>
        <p:nvSpPr>
          <p:cNvPr id="10" name="Shape 8"/>
          <p:cNvSpPr/>
          <p:nvPr/>
        </p:nvSpPr>
        <p:spPr>
          <a:xfrm>
            <a:off x="4389120" y="2148840"/>
            <a:ext cx="3474720" cy="2286000"/>
          </a:xfrm>
          <a:prstGeom prst="roundRect">
            <a:avLst>
              <a:gd name="adj" fmla="val 5600"/>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11" name="Shape 9"/>
          <p:cNvSpPr/>
          <p:nvPr/>
        </p:nvSpPr>
        <p:spPr>
          <a:xfrm>
            <a:off x="4681728" y="2468880"/>
            <a:ext cx="457200" cy="457200"/>
          </a:xfrm>
          <a:prstGeom prst="ellipse">
            <a:avLst/>
          </a:prstGeom>
          <a:solidFill>
            <a:srgbClr val="2F5FFF"/>
          </a:solidFill>
          <a:ln w="12700">
            <a:solidFill>
              <a:srgbClr val="2F5FFF"/>
            </a:solidFill>
            <a:prstDash val="solid"/>
          </a:ln>
        </p:spPr>
      </p:sp>
      <p:sp>
        <p:nvSpPr>
          <p:cNvPr id="12" name="Text 10"/>
          <p:cNvSpPr/>
          <p:nvPr/>
        </p:nvSpPr>
        <p:spPr>
          <a:xfrm>
            <a:off x="4681728" y="24688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4681728" y="3063240"/>
            <a:ext cx="2834640" cy="320040"/>
          </a:xfrm>
          <a:prstGeom prst="rect">
            <a:avLst/>
          </a:prstGeom>
          <a:noFill/>
          <a:ln/>
        </p:spPr>
        <p:txBody>
          <a:bodyPr wrap="square" lIns="0" tIns="0" rIns="0" bIns="0" rtlCol="0" anchor="ctr"/>
          <a:lstStyle/>
          <a:p>
            <a:pPr indent="0" marL="0">
              <a:buNone/>
            </a:pPr>
            <a:r>
              <a:rPr lang="en-US" sz="1700" b="1" dirty="0">
                <a:solidFill>
                  <a:srgbClr val="0F1B3D"/>
                </a:solidFill>
                <a:latin typeface="Calibri" pitchFamily="34" charset="0"/>
                <a:ea typeface="Calibri" pitchFamily="34" charset="-122"/>
                <a:cs typeface="Calibri" pitchFamily="34" charset="-120"/>
              </a:rPr>
              <a:t>No digital footprint</a:t>
            </a:r>
            <a:endParaRPr lang="en-US" sz="1700" dirty="0"/>
          </a:p>
        </p:txBody>
      </p:sp>
      <p:sp>
        <p:nvSpPr>
          <p:cNvPr id="14" name="Text 12"/>
          <p:cNvSpPr/>
          <p:nvPr/>
        </p:nvSpPr>
        <p:spPr>
          <a:xfrm>
            <a:off x="4681728" y="3429000"/>
            <a:ext cx="2926080" cy="82296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Not on LinkedIn, not in a job board, not in your ATS.</a:t>
            </a:r>
            <a:endParaRPr lang="en-US" sz="1300" dirty="0"/>
          </a:p>
        </p:txBody>
      </p:sp>
      <p:sp>
        <p:nvSpPr>
          <p:cNvPr id="15" name="Shape 13"/>
          <p:cNvSpPr/>
          <p:nvPr/>
        </p:nvSpPr>
        <p:spPr>
          <a:xfrm>
            <a:off x="8138160" y="2148840"/>
            <a:ext cx="3474720" cy="2286000"/>
          </a:xfrm>
          <a:prstGeom prst="roundRect">
            <a:avLst>
              <a:gd name="adj" fmla="val 5600"/>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16" name="Shape 14"/>
          <p:cNvSpPr/>
          <p:nvPr/>
        </p:nvSpPr>
        <p:spPr>
          <a:xfrm>
            <a:off x="8430768" y="2468880"/>
            <a:ext cx="457200" cy="457200"/>
          </a:xfrm>
          <a:prstGeom prst="ellipse">
            <a:avLst/>
          </a:prstGeom>
          <a:solidFill>
            <a:srgbClr val="2F5FFF"/>
          </a:solidFill>
          <a:ln w="12700">
            <a:solidFill>
              <a:srgbClr val="2F5FFF"/>
            </a:solidFill>
            <a:prstDash val="solid"/>
          </a:ln>
        </p:spPr>
      </p:sp>
      <p:sp>
        <p:nvSpPr>
          <p:cNvPr id="17" name="Text 15"/>
          <p:cNvSpPr/>
          <p:nvPr/>
        </p:nvSpPr>
        <p:spPr>
          <a:xfrm>
            <a:off x="8430768" y="24688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8430768" y="3063240"/>
            <a:ext cx="2834640" cy="320040"/>
          </a:xfrm>
          <a:prstGeom prst="rect">
            <a:avLst/>
          </a:prstGeom>
          <a:noFill/>
          <a:ln/>
        </p:spPr>
        <p:txBody>
          <a:bodyPr wrap="square" lIns="0" tIns="0" rIns="0" bIns="0" rtlCol="0" anchor="ctr"/>
          <a:lstStyle/>
          <a:p>
            <a:pPr indent="0" marL="0">
              <a:buNone/>
            </a:pPr>
            <a:r>
              <a:rPr lang="en-US" sz="1700" b="1" dirty="0">
                <a:solidFill>
                  <a:srgbClr val="0F1B3D"/>
                </a:solidFill>
                <a:latin typeface="Calibri" pitchFamily="34" charset="0"/>
                <a:ea typeface="Calibri" pitchFamily="34" charset="-122"/>
                <a:cs typeface="Calibri" pitchFamily="34" charset="-120"/>
              </a:rPr>
              <a:t>Found only by referral</a:t>
            </a:r>
            <a:endParaRPr lang="en-US" sz="1700" dirty="0"/>
          </a:p>
        </p:txBody>
      </p:sp>
      <p:sp>
        <p:nvSpPr>
          <p:cNvPr id="19" name="Text 17"/>
          <p:cNvSpPr/>
          <p:nvPr/>
        </p:nvSpPr>
        <p:spPr>
          <a:xfrm>
            <a:off x="8430768" y="3429000"/>
            <a:ext cx="2926080" cy="82296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Every new job restarts their reputation from zero.</a:t>
            </a:r>
            <a:endParaRPr lang="en-US" sz="1300" dirty="0"/>
          </a:p>
        </p:txBody>
      </p:sp>
      <p:sp>
        <p:nvSpPr>
          <p:cNvPr id="20" name="Text 18"/>
          <p:cNvSpPr/>
          <p:nvPr/>
        </p:nvSpPr>
        <p:spPr>
          <a:xfrm>
            <a:off x="640080" y="4892040"/>
            <a:ext cx="10515600" cy="365760"/>
          </a:xfrm>
          <a:prstGeom prst="rect">
            <a:avLst/>
          </a:prstGeom>
          <a:noFill/>
          <a:ln/>
        </p:spPr>
        <p:txBody>
          <a:bodyPr wrap="square" lIns="0" tIns="0" rIns="0" bIns="0" rtlCol="0" anchor="ctr"/>
          <a:lstStyle/>
          <a:p>
            <a:pPr indent="0" marL="0">
              <a:buNone/>
            </a:pPr>
            <a:r>
              <a:rPr lang="en-US" sz="1500" i="1" dirty="0">
                <a:solidFill>
                  <a:srgbClr val="0F1B3D"/>
                </a:solidFill>
                <a:latin typeface="Calibri" pitchFamily="34" charset="0"/>
                <a:ea typeface="Calibri" pitchFamily="34" charset="-122"/>
                <a:cs typeface="Calibri" pitchFamily="34" charset="-120"/>
              </a:rPr>
              <a:t>They are not a niche. In Gulf and Levant labour markets they are the majority of hires.</a:t>
            </a:r>
            <a:endParaRPr lang="en-US" sz="1500" dirty="0"/>
          </a:p>
        </p:txBody>
      </p:sp>
      <p:sp>
        <p:nvSpPr>
          <p:cNvPr id="21" name="Text 19"/>
          <p:cNvSpPr/>
          <p:nvPr/>
        </p:nvSpPr>
        <p:spPr>
          <a:xfrm>
            <a:off x="640080" y="6400800"/>
            <a:ext cx="1828800" cy="228600"/>
          </a:xfrm>
          <a:prstGeom prst="rect">
            <a:avLst/>
          </a:prstGeom>
          <a:noFill/>
          <a:ln/>
        </p:spPr>
        <p:txBody>
          <a:bodyPr wrap="square" lIns="0" tIns="0" rIns="0" bIns="0" rtlCol="0" anchor="ctr"/>
          <a:lstStyle/>
          <a:p>
            <a:pPr indent="0" marL="0">
              <a:buNone/>
            </a:pPr>
            <a:r>
              <a:rPr lang="en-US" sz="900" dirty="0">
                <a:solidFill>
                  <a:srgbClr val="A6ADB8"/>
                </a:solidFill>
                <a:latin typeface="Calibri" pitchFamily="34" charset="0"/>
                <a:ea typeface="Calibri" pitchFamily="34" charset="-122"/>
                <a:cs typeface="Calibri" pitchFamily="34" charset="-120"/>
              </a:rPr>
              <a:t>Naatiq</a:t>
            </a:r>
            <a:endParaRPr lang="en-US" sz="900" dirty="0"/>
          </a:p>
        </p:txBody>
      </p:sp>
      <p:sp>
        <p:nvSpPr>
          <p:cNvPr id="22" name="Text 20"/>
          <p:cNvSpPr/>
          <p:nvPr/>
        </p:nvSpPr>
        <p:spPr>
          <a:xfrm>
            <a:off x="10607040" y="6400800"/>
            <a:ext cx="914400" cy="228600"/>
          </a:xfrm>
          <a:prstGeom prst="rect">
            <a:avLst/>
          </a:prstGeom>
          <a:noFill/>
          <a:ln/>
        </p:spPr>
        <p:txBody>
          <a:bodyPr wrap="square" lIns="0" tIns="0" rIns="0" bIns="0" rtlCol="0" anchor="ctr"/>
          <a:lstStyle/>
          <a:p>
            <a:pPr algn="r" indent="0" marL="0">
              <a:buNone/>
            </a:pPr>
            <a:r>
              <a:rPr lang="en-US" sz="900" dirty="0">
                <a:solidFill>
                  <a:srgbClr val="A6ADB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F5FFF"/>
                </a:solidFill>
                <a:latin typeface="Calibri" pitchFamily="34" charset="0"/>
                <a:ea typeface="Calibri" pitchFamily="34" charset="-122"/>
                <a:cs typeface="Calibri" pitchFamily="34" charset="-120"/>
              </a:rPr>
              <a:t>WHY IT PERSISTS</a:t>
            </a:r>
            <a:endParaRPr lang="en-US" sz="1100" dirty="0"/>
          </a:p>
        </p:txBody>
      </p:sp>
      <p:sp>
        <p:nvSpPr>
          <p:cNvPr id="3" name="Text 1"/>
          <p:cNvSpPr/>
          <p:nvPr/>
        </p:nvSpPr>
        <p:spPr>
          <a:xfrm>
            <a:off x="640080" y="658368"/>
            <a:ext cx="10881360" cy="658368"/>
          </a:xfrm>
          <a:prstGeom prst="rect">
            <a:avLst/>
          </a:prstGeom>
          <a:noFill/>
          <a:ln/>
        </p:spPr>
        <p:txBody>
          <a:bodyPr wrap="square" lIns="0" tIns="0" rIns="0" bIns="0" rtlCol="0" anchor="ctr"/>
          <a:lstStyle/>
          <a:p>
            <a:pPr indent="0" marL="0">
              <a:buNone/>
            </a:pPr>
            <a:r>
              <a:rPr lang="en-US" sz="3400" b="1" dirty="0">
                <a:solidFill>
                  <a:srgbClr val="0F1B3D"/>
                </a:solidFill>
                <a:latin typeface="Calibri" pitchFamily="34" charset="0"/>
                <a:ea typeface="Calibri" pitchFamily="34" charset="-122"/>
                <a:cs typeface="Calibri" pitchFamily="34" charset="-120"/>
              </a:rPr>
              <a:t>The barrier is format, not skill</a:t>
            </a:r>
            <a:endParaRPr lang="en-US" sz="3400" dirty="0"/>
          </a:p>
        </p:txBody>
      </p:sp>
      <p:sp>
        <p:nvSpPr>
          <p:cNvPr id="4" name="Shape 2"/>
          <p:cNvSpPr/>
          <p:nvPr/>
        </p:nvSpPr>
        <p:spPr>
          <a:xfrm>
            <a:off x="640080" y="2011680"/>
            <a:ext cx="5120640" cy="2834640"/>
          </a:xfrm>
          <a:prstGeom prst="roundRect">
            <a:avLst>
              <a:gd name="adj" fmla="val 4516"/>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5" name="Text 3"/>
          <p:cNvSpPr/>
          <p:nvPr/>
        </p:nvSpPr>
        <p:spPr>
          <a:xfrm>
            <a:off x="960120" y="2286000"/>
            <a:ext cx="4572000" cy="320040"/>
          </a:xfrm>
          <a:prstGeom prst="rect">
            <a:avLst/>
          </a:prstGeom>
          <a:noFill/>
          <a:ln/>
        </p:spPr>
        <p:txBody>
          <a:bodyPr wrap="square" lIns="0" tIns="0" rIns="0" bIns="0" rtlCol="0" anchor="ctr"/>
          <a:lstStyle/>
          <a:p>
            <a:pPr indent="0" marL="0">
              <a:buNone/>
            </a:pPr>
            <a:r>
              <a:rPr lang="en-US" sz="1700" b="1" dirty="0">
                <a:solidFill>
                  <a:srgbClr val="0F1B3D"/>
                </a:solidFill>
                <a:latin typeface="Calibri" pitchFamily="34" charset="0"/>
                <a:ea typeface="Calibri" pitchFamily="34" charset="-122"/>
                <a:cs typeface="Calibri" pitchFamily="34" charset="-120"/>
              </a:rPr>
              <a:t>What the worker has</a:t>
            </a:r>
            <a:endParaRPr lang="en-US" sz="1700" dirty="0"/>
          </a:p>
        </p:txBody>
      </p:sp>
      <p:sp>
        <p:nvSpPr>
          <p:cNvPr id="6" name="Text 4"/>
          <p:cNvSpPr/>
          <p:nvPr/>
        </p:nvSpPr>
        <p:spPr>
          <a:xfrm>
            <a:off x="960120" y="2697480"/>
            <a:ext cx="4480560" cy="192024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5B6472"/>
                </a:solidFill>
                <a:latin typeface="Calibri" pitchFamily="34" charset="0"/>
                <a:ea typeface="Calibri" pitchFamily="34" charset="-122"/>
                <a:cs typeface="Calibri" pitchFamily="34" charset="-120"/>
              </a:rPr>
              <a:t>A decade of verifiable, specific experience</a:t>
            </a:r>
            <a:endParaRPr lang="en-US" sz="1350" dirty="0"/>
          </a:p>
          <a:p>
            <a:pPr marL="342900" indent="-342900">
              <a:spcAft>
                <a:spcPts val="800"/>
              </a:spcAft>
              <a:buSzPct val="100000"/>
              <a:buChar char="•"/>
            </a:pPr>
            <a:r>
              <a:rPr lang="en-US" sz="1350" dirty="0">
                <a:solidFill>
                  <a:srgbClr val="5B6472"/>
                </a:solidFill>
                <a:latin typeface="Calibri" pitchFamily="34" charset="0"/>
                <a:ea typeface="Calibri" pitchFamily="34" charset="-122"/>
                <a:cs typeface="Calibri" pitchFamily="34" charset="-120"/>
              </a:rPr>
              <a:t>Named employers and real durations</a:t>
            </a:r>
            <a:endParaRPr lang="en-US" sz="1350" dirty="0"/>
          </a:p>
          <a:p>
            <a:pPr marL="342900" indent="-342900">
              <a:spcAft>
                <a:spcPts val="800"/>
              </a:spcAft>
              <a:buSzPct val="100000"/>
              <a:buChar char="•"/>
            </a:pPr>
            <a:r>
              <a:rPr lang="en-US" sz="1350" dirty="0">
                <a:solidFill>
                  <a:srgbClr val="5B6472"/>
                </a:solidFill>
                <a:latin typeface="Calibri" pitchFamily="34" charset="0"/>
                <a:ea typeface="Calibri" pitchFamily="34" charset="-122"/>
                <a:cs typeface="Calibri" pitchFamily="34" charset="-120"/>
              </a:rPr>
              <a:t>Concrete skills, tools and achievements</a:t>
            </a:r>
            <a:endParaRPr lang="en-US" sz="1350" dirty="0"/>
          </a:p>
          <a:p>
            <a:pPr marL="342900" indent="-342900">
              <a:spcAft>
                <a:spcPts val="800"/>
              </a:spcAft>
              <a:buSzPct val="100000"/>
              <a:buChar char="•"/>
            </a:pPr>
            <a:r>
              <a:rPr lang="en-US" sz="1350" dirty="0">
                <a:solidFill>
                  <a:srgbClr val="5B6472"/>
                </a:solidFill>
                <a:latin typeface="Calibri" pitchFamily="34" charset="0"/>
                <a:ea typeface="Calibri" pitchFamily="34" charset="-122"/>
                <a:cs typeface="Calibri" pitchFamily="34" charset="-120"/>
              </a:rPr>
              <a:t>A smartphone and daily WhatsApp use</a:t>
            </a:r>
            <a:endParaRPr lang="en-US" sz="1350" dirty="0"/>
          </a:p>
        </p:txBody>
      </p:sp>
      <p:sp>
        <p:nvSpPr>
          <p:cNvPr id="7" name="Shape 5"/>
          <p:cNvSpPr/>
          <p:nvPr/>
        </p:nvSpPr>
        <p:spPr>
          <a:xfrm>
            <a:off x="6217920" y="2011680"/>
            <a:ext cx="5120640" cy="2834640"/>
          </a:xfrm>
          <a:prstGeom prst="roundRect">
            <a:avLst>
              <a:gd name="adj" fmla="val 4516"/>
            </a:avLst>
          </a:prstGeom>
          <a:solidFill>
            <a:srgbClr val="FFF1F0"/>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8" name="Text 6"/>
          <p:cNvSpPr/>
          <p:nvPr/>
        </p:nvSpPr>
        <p:spPr>
          <a:xfrm>
            <a:off x="6537960" y="2286000"/>
            <a:ext cx="4572000" cy="320040"/>
          </a:xfrm>
          <a:prstGeom prst="rect">
            <a:avLst/>
          </a:prstGeom>
          <a:noFill/>
          <a:ln/>
        </p:spPr>
        <p:txBody>
          <a:bodyPr wrap="square" lIns="0" tIns="0" rIns="0" bIns="0" rtlCol="0" anchor="ctr"/>
          <a:lstStyle/>
          <a:p>
            <a:pPr indent="0" marL="0">
              <a:buNone/>
            </a:pPr>
            <a:r>
              <a:rPr lang="en-US" sz="1700" b="1" dirty="0">
                <a:solidFill>
                  <a:srgbClr val="0F1B3D"/>
                </a:solidFill>
                <a:latin typeface="Calibri" pitchFamily="34" charset="0"/>
                <a:ea typeface="Calibri" pitchFamily="34" charset="-122"/>
                <a:cs typeface="Calibri" pitchFamily="34" charset="-120"/>
              </a:rPr>
              <a:t>What every CV tool demands</a:t>
            </a:r>
            <a:endParaRPr lang="en-US" sz="1700" dirty="0"/>
          </a:p>
        </p:txBody>
      </p:sp>
      <p:sp>
        <p:nvSpPr>
          <p:cNvPr id="9" name="Text 7"/>
          <p:cNvSpPr/>
          <p:nvPr/>
        </p:nvSpPr>
        <p:spPr>
          <a:xfrm>
            <a:off x="6537960" y="2697480"/>
            <a:ext cx="4480560" cy="192024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5B6472"/>
                </a:solidFill>
                <a:latin typeface="Calibri" pitchFamily="34" charset="0"/>
                <a:ea typeface="Calibri" pitchFamily="34" charset="-122"/>
                <a:cs typeface="Calibri" pitchFamily="34" charset="-120"/>
              </a:rPr>
              <a:t>Literacy in formal written language</a:t>
            </a:r>
            <a:endParaRPr lang="en-US" sz="1350" dirty="0"/>
          </a:p>
          <a:p>
            <a:pPr marL="342900" indent="-342900">
              <a:spcAft>
                <a:spcPts val="800"/>
              </a:spcAft>
              <a:buSzPct val="100000"/>
              <a:buChar char="•"/>
            </a:pPr>
            <a:r>
              <a:rPr lang="en-US" sz="1350" dirty="0">
                <a:solidFill>
                  <a:srgbClr val="5B6472"/>
                </a:solidFill>
                <a:latin typeface="Calibri" pitchFamily="34" charset="0"/>
                <a:ea typeface="Calibri" pitchFamily="34" charset="-122"/>
                <a:cs typeface="Calibri" pitchFamily="34" charset="-120"/>
              </a:rPr>
              <a:t>A laptop and a keyboard</a:t>
            </a:r>
            <a:endParaRPr lang="en-US" sz="1350" dirty="0"/>
          </a:p>
          <a:p>
            <a:pPr marL="342900" indent="-342900">
              <a:spcAft>
                <a:spcPts val="800"/>
              </a:spcAft>
              <a:buSzPct val="100000"/>
              <a:buChar char="•"/>
            </a:pPr>
            <a:r>
              <a:rPr lang="en-US" sz="1350" dirty="0">
                <a:solidFill>
                  <a:srgbClr val="5B6472"/>
                </a:solidFill>
                <a:latin typeface="Calibri" pitchFamily="34" charset="0"/>
                <a:ea typeface="Calibri" pitchFamily="34" charset="-122"/>
                <a:cs typeface="Calibri" pitchFamily="34" charset="-120"/>
              </a:rPr>
              <a:t>Comfort with abstract forms and fields</a:t>
            </a:r>
            <a:endParaRPr lang="en-US" sz="1350" dirty="0"/>
          </a:p>
          <a:p>
            <a:pPr marL="342900" indent="-342900">
              <a:spcAft>
                <a:spcPts val="800"/>
              </a:spcAft>
              <a:buSzPct val="100000"/>
              <a:buChar char="•"/>
            </a:pPr>
            <a:r>
              <a:rPr lang="en-US" sz="1350" dirty="0">
                <a:solidFill>
                  <a:srgbClr val="5B6472"/>
                </a:solidFill>
                <a:latin typeface="Calibri" pitchFamily="34" charset="0"/>
                <a:ea typeface="Calibri" pitchFamily="34" charset="-122"/>
                <a:cs typeface="Calibri" pitchFamily="34" charset="-120"/>
              </a:rPr>
              <a:t>Knowing what a CV is supposed to contain</a:t>
            </a:r>
            <a:endParaRPr lang="en-US" sz="1350" dirty="0"/>
          </a:p>
        </p:txBody>
      </p:sp>
      <p:sp>
        <p:nvSpPr>
          <p:cNvPr id="10" name="Text 8"/>
          <p:cNvSpPr/>
          <p:nvPr/>
        </p:nvSpPr>
        <p:spPr>
          <a:xfrm>
            <a:off x="640080" y="5166360"/>
            <a:ext cx="10515600" cy="411480"/>
          </a:xfrm>
          <a:prstGeom prst="rect">
            <a:avLst/>
          </a:prstGeom>
          <a:noFill/>
          <a:ln/>
        </p:spPr>
        <p:txBody>
          <a:bodyPr wrap="square" lIns="0" tIns="0" rIns="0" bIns="0" rtlCol="0" anchor="ctr"/>
          <a:lstStyle/>
          <a:p>
            <a:pPr indent="0" marL="0">
              <a:buNone/>
            </a:pPr>
            <a:r>
              <a:rPr lang="en-US" sz="1800" b="1" dirty="0">
                <a:solidFill>
                  <a:srgbClr val="2F5FFF"/>
                </a:solidFill>
                <a:latin typeface="Calibri" pitchFamily="34" charset="0"/>
                <a:ea typeface="Calibri" pitchFamily="34" charset="-122"/>
                <a:cs typeface="Calibri" pitchFamily="34" charset="-120"/>
              </a:rPr>
              <a:t>Remove the format requirement and the supply was always there.</a:t>
            </a:r>
            <a:endParaRPr lang="en-US" sz="1800" dirty="0"/>
          </a:p>
        </p:txBody>
      </p:sp>
      <p:sp>
        <p:nvSpPr>
          <p:cNvPr id="11" name="Text 9"/>
          <p:cNvSpPr/>
          <p:nvPr/>
        </p:nvSpPr>
        <p:spPr>
          <a:xfrm>
            <a:off x="640080" y="6400800"/>
            <a:ext cx="1828800" cy="228600"/>
          </a:xfrm>
          <a:prstGeom prst="rect">
            <a:avLst/>
          </a:prstGeom>
          <a:noFill/>
          <a:ln/>
        </p:spPr>
        <p:txBody>
          <a:bodyPr wrap="square" lIns="0" tIns="0" rIns="0" bIns="0" rtlCol="0" anchor="ctr"/>
          <a:lstStyle/>
          <a:p>
            <a:pPr indent="0" marL="0">
              <a:buNone/>
            </a:pPr>
            <a:r>
              <a:rPr lang="en-US" sz="900" dirty="0">
                <a:solidFill>
                  <a:srgbClr val="A6ADB8"/>
                </a:solidFill>
                <a:latin typeface="Calibri" pitchFamily="34" charset="0"/>
                <a:ea typeface="Calibri" pitchFamily="34" charset="-122"/>
                <a:cs typeface="Calibri" pitchFamily="34" charset="-120"/>
              </a:rPr>
              <a:t>Naatiq</a:t>
            </a:r>
            <a:endParaRPr lang="en-US" sz="900" dirty="0"/>
          </a:p>
        </p:txBody>
      </p:sp>
      <p:sp>
        <p:nvSpPr>
          <p:cNvPr id="12" name="Text 10"/>
          <p:cNvSpPr/>
          <p:nvPr/>
        </p:nvSpPr>
        <p:spPr>
          <a:xfrm>
            <a:off x="10607040" y="6400800"/>
            <a:ext cx="914400" cy="228600"/>
          </a:xfrm>
          <a:prstGeom prst="rect">
            <a:avLst/>
          </a:prstGeom>
          <a:noFill/>
          <a:ln/>
        </p:spPr>
        <p:txBody>
          <a:bodyPr wrap="square" lIns="0" tIns="0" rIns="0" bIns="0" rtlCol="0" anchor="ctr"/>
          <a:lstStyle/>
          <a:p>
            <a:pPr algn="r" indent="0" marL="0">
              <a:buNone/>
            </a:pPr>
            <a:r>
              <a:rPr lang="en-US" sz="900" dirty="0">
                <a:solidFill>
                  <a:srgbClr val="A6ADB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F5FFF"/>
                </a:solidFill>
                <a:latin typeface="Calibri" pitchFamily="34" charset="0"/>
                <a:ea typeface="Calibri" pitchFamily="34" charset="-122"/>
                <a:cs typeface="Calibri" pitchFamily="34" charset="-120"/>
              </a:rPr>
              <a:t>THE COMMERCIAL COST</a:t>
            </a:r>
            <a:endParaRPr lang="en-US" sz="1100" dirty="0"/>
          </a:p>
        </p:txBody>
      </p:sp>
      <p:sp>
        <p:nvSpPr>
          <p:cNvPr id="3" name="Text 1"/>
          <p:cNvSpPr/>
          <p:nvPr/>
        </p:nvSpPr>
        <p:spPr>
          <a:xfrm>
            <a:off x="640080" y="658368"/>
            <a:ext cx="10881360" cy="658368"/>
          </a:xfrm>
          <a:prstGeom prst="rect">
            <a:avLst/>
          </a:prstGeom>
          <a:noFill/>
          <a:ln/>
        </p:spPr>
        <p:txBody>
          <a:bodyPr wrap="square" lIns="0" tIns="0" rIns="0" bIns="0" rtlCol="0" anchor="ctr"/>
          <a:lstStyle/>
          <a:p>
            <a:pPr indent="0" marL="0">
              <a:buNone/>
            </a:pPr>
            <a:r>
              <a:rPr lang="en-US" sz="3400" b="1" dirty="0">
                <a:solidFill>
                  <a:srgbClr val="0F1B3D"/>
                </a:solidFill>
                <a:latin typeface="Calibri" pitchFamily="34" charset="0"/>
                <a:ea typeface="Calibri" pitchFamily="34" charset="-122"/>
                <a:cs typeface="Calibri" pitchFamily="34" charset="-120"/>
              </a:rPr>
              <a:t>What this costs a recruitment business</a:t>
            </a:r>
            <a:endParaRPr lang="en-US" sz="3400" dirty="0"/>
          </a:p>
        </p:txBody>
      </p:sp>
      <p:sp>
        <p:nvSpPr>
          <p:cNvPr id="4" name="Text 2"/>
          <p:cNvSpPr/>
          <p:nvPr/>
        </p:nvSpPr>
        <p:spPr>
          <a:xfrm>
            <a:off x="640080" y="1335024"/>
            <a:ext cx="10332720" cy="457200"/>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The candidate's problem is also a margin problem.</a:t>
            </a:r>
            <a:endParaRPr lang="en-US" sz="1500" dirty="0"/>
          </a:p>
        </p:txBody>
      </p:sp>
      <p:sp>
        <p:nvSpPr>
          <p:cNvPr id="5" name="Shape 3"/>
          <p:cNvSpPr/>
          <p:nvPr/>
        </p:nvSpPr>
        <p:spPr>
          <a:xfrm>
            <a:off x="640080" y="2103120"/>
            <a:ext cx="5257800" cy="1298448"/>
          </a:xfrm>
          <a:prstGeom prst="roundRect">
            <a:avLst>
              <a:gd name="adj" fmla="val 9859"/>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6" name="Shape 4"/>
          <p:cNvSpPr/>
          <p:nvPr/>
        </p:nvSpPr>
        <p:spPr>
          <a:xfrm>
            <a:off x="896112" y="2432304"/>
            <a:ext cx="402336" cy="402336"/>
          </a:xfrm>
          <a:prstGeom prst="ellipse">
            <a:avLst/>
          </a:prstGeom>
          <a:solidFill>
            <a:srgbClr val="16C89A"/>
          </a:solidFill>
          <a:ln w="12700">
            <a:solidFill>
              <a:srgbClr val="16C89A"/>
            </a:solidFill>
            <a:prstDash val="solid"/>
          </a:ln>
        </p:spPr>
      </p:sp>
      <p:sp>
        <p:nvSpPr>
          <p:cNvPr id="7" name="Text 5"/>
          <p:cNvSpPr/>
          <p:nvPr/>
        </p:nvSpPr>
        <p:spPr>
          <a:xfrm>
            <a:off x="896112" y="2432304"/>
            <a:ext cx="402336" cy="402336"/>
          </a:xfrm>
          <a:prstGeom prst="rect">
            <a:avLst/>
          </a:prstGeom>
          <a:noFill/>
          <a:ln/>
        </p:spPr>
        <p:txBody>
          <a:bodyPr wrap="square" lIns="0" tIns="0" rIns="0" bIns="0" rtlCol="0" anchor="ctr"/>
          <a:lstStyle/>
          <a:p>
            <a:pPr algn="ctr" indent="0" marL="0">
              <a:buNone/>
            </a:pPr>
            <a:r>
              <a:rPr lang="en-US" sz="1400" b="1" dirty="0">
                <a:solidFill>
                  <a:srgbClr val="0F1B3D"/>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481328" y="2304288"/>
            <a:ext cx="4206240" cy="274320"/>
          </a:xfrm>
          <a:prstGeom prst="rect">
            <a:avLst/>
          </a:prstGeom>
          <a:noFill/>
          <a:ln/>
        </p:spPr>
        <p:txBody>
          <a:bodyPr wrap="square" lIns="0" tIns="0" rIns="0" bIns="0" rtlCol="0" anchor="ctr"/>
          <a:lstStyle/>
          <a:p>
            <a:pPr indent="0" marL="0">
              <a:buNone/>
            </a:pPr>
            <a:r>
              <a:rPr lang="en-US" sz="1550" b="1" dirty="0">
                <a:solidFill>
                  <a:srgbClr val="0F1B3D"/>
                </a:solidFill>
                <a:latin typeface="Calibri" pitchFamily="34" charset="0"/>
                <a:ea typeface="Calibri" pitchFamily="34" charset="-122"/>
                <a:cs typeface="Calibri" pitchFamily="34" charset="-120"/>
              </a:rPr>
              <a:t>Shallow pipelines</a:t>
            </a:r>
            <a:endParaRPr lang="en-US" sz="1550" dirty="0"/>
          </a:p>
        </p:txBody>
      </p:sp>
      <p:sp>
        <p:nvSpPr>
          <p:cNvPr id="9" name="Text 7"/>
          <p:cNvSpPr/>
          <p:nvPr/>
        </p:nvSpPr>
        <p:spPr>
          <a:xfrm>
            <a:off x="1481328" y="2606040"/>
            <a:ext cx="4251960" cy="68580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High-volume trades are the hardest roles to fill and the thinnest part of your database.</a:t>
            </a:r>
            <a:endParaRPr lang="en-US" sz="1250" dirty="0"/>
          </a:p>
        </p:txBody>
      </p:sp>
      <p:sp>
        <p:nvSpPr>
          <p:cNvPr id="10" name="Shape 8"/>
          <p:cNvSpPr/>
          <p:nvPr/>
        </p:nvSpPr>
        <p:spPr>
          <a:xfrm>
            <a:off x="6172200" y="2103120"/>
            <a:ext cx="5257800" cy="1298448"/>
          </a:xfrm>
          <a:prstGeom prst="roundRect">
            <a:avLst>
              <a:gd name="adj" fmla="val 9859"/>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11" name="Shape 9"/>
          <p:cNvSpPr/>
          <p:nvPr/>
        </p:nvSpPr>
        <p:spPr>
          <a:xfrm>
            <a:off x="6428232" y="2432304"/>
            <a:ext cx="402336" cy="402336"/>
          </a:xfrm>
          <a:prstGeom prst="ellipse">
            <a:avLst/>
          </a:prstGeom>
          <a:solidFill>
            <a:srgbClr val="16C89A"/>
          </a:solidFill>
          <a:ln w="12700">
            <a:solidFill>
              <a:srgbClr val="16C89A"/>
            </a:solidFill>
            <a:prstDash val="solid"/>
          </a:ln>
        </p:spPr>
      </p:sp>
      <p:sp>
        <p:nvSpPr>
          <p:cNvPr id="12" name="Text 10"/>
          <p:cNvSpPr/>
          <p:nvPr/>
        </p:nvSpPr>
        <p:spPr>
          <a:xfrm>
            <a:off x="6428232" y="2432304"/>
            <a:ext cx="402336" cy="402336"/>
          </a:xfrm>
          <a:prstGeom prst="rect">
            <a:avLst/>
          </a:prstGeom>
          <a:noFill/>
          <a:ln/>
        </p:spPr>
        <p:txBody>
          <a:bodyPr wrap="square" lIns="0" tIns="0" rIns="0" bIns="0" rtlCol="0" anchor="ctr"/>
          <a:lstStyle/>
          <a:p>
            <a:pPr algn="ctr" indent="0" marL="0">
              <a:buNone/>
            </a:pPr>
            <a:r>
              <a:rPr lang="en-US" sz="1400" b="1" dirty="0">
                <a:solidFill>
                  <a:srgbClr val="0F1B3D"/>
                </a:solidFill>
                <a:latin typeface="Calibri" pitchFamily="34" charset="0"/>
                <a:ea typeface="Calibri" pitchFamily="34" charset="-122"/>
                <a:cs typeface="Calibri" pitchFamily="34" charset="-120"/>
              </a:rPr>
              <a:t>!</a:t>
            </a:r>
            <a:endParaRPr lang="en-US" sz="1400" dirty="0"/>
          </a:p>
        </p:txBody>
      </p:sp>
      <p:sp>
        <p:nvSpPr>
          <p:cNvPr id="13" name="Text 11"/>
          <p:cNvSpPr/>
          <p:nvPr/>
        </p:nvSpPr>
        <p:spPr>
          <a:xfrm>
            <a:off x="7013448" y="2304288"/>
            <a:ext cx="4206240" cy="274320"/>
          </a:xfrm>
          <a:prstGeom prst="rect">
            <a:avLst/>
          </a:prstGeom>
          <a:noFill/>
          <a:ln/>
        </p:spPr>
        <p:txBody>
          <a:bodyPr wrap="square" lIns="0" tIns="0" rIns="0" bIns="0" rtlCol="0" anchor="ctr"/>
          <a:lstStyle/>
          <a:p>
            <a:pPr indent="0" marL="0">
              <a:buNone/>
            </a:pPr>
            <a:r>
              <a:rPr lang="en-US" sz="1550" b="1" dirty="0">
                <a:solidFill>
                  <a:srgbClr val="0F1B3D"/>
                </a:solidFill>
                <a:latin typeface="Calibri" pitchFamily="34" charset="0"/>
                <a:ea typeface="Calibri" pitchFamily="34" charset="-122"/>
                <a:cs typeface="Calibri" pitchFamily="34" charset="-120"/>
              </a:rPr>
              <a:t>Slow time-to-fill</a:t>
            </a:r>
            <a:endParaRPr lang="en-US" sz="1550" dirty="0"/>
          </a:p>
        </p:txBody>
      </p:sp>
      <p:sp>
        <p:nvSpPr>
          <p:cNvPr id="14" name="Text 12"/>
          <p:cNvSpPr/>
          <p:nvPr/>
        </p:nvSpPr>
        <p:spPr>
          <a:xfrm>
            <a:off x="7013448" y="2606040"/>
            <a:ext cx="4251960" cy="68580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Sourcing runs on phone calls and personal networks that do not scale.</a:t>
            </a:r>
            <a:endParaRPr lang="en-US" sz="1250" dirty="0"/>
          </a:p>
        </p:txBody>
      </p:sp>
      <p:sp>
        <p:nvSpPr>
          <p:cNvPr id="15" name="Shape 13"/>
          <p:cNvSpPr/>
          <p:nvPr/>
        </p:nvSpPr>
        <p:spPr>
          <a:xfrm>
            <a:off x="640080" y="3611880"/>
            <a:ext cx="5257800" cy="1298448"/>
          </a:xfrm>
          <a:prstGeom prst="roundRect">
            <a:avLst>
              <a:gd name="adj" fmla="val 9859"/>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16" name="Shape 14"/>
          <p:cNvSpPr/>
          <p:nvPr/>
        </p:nvSpPr>
        <p:spPr>
          <a:xfrm>
            <a:off x="896112" y="3941064"/>
            <a:ext cx="402336" cy="402336"/>
          </a:xfrm>
          <a:prstGeom prst="ellipse">
            <a:avLst/>
          </a:prstGeom>
          <a:solidFill>
            <a:srgbClr val="16C89A"/>
          </a:solidFill>
          <a:ln w="12700">
            <a:solidFill>
              <a:srgbClr val="16C89A"/>
            </a:solidFill>
            <a:prstDash val="solid"/>
          </a:ln>
        </p:spPr>
      </p:sp>
      <p:sp>
        <p:nvSpPr>
          <p:cNvPr id="17" name="Text 15"/>
          <p:cNvSpPr/>
          <p:nvPr/>
        </p:nvSpPr>
        <p:spPr>
          <a:xfrm>
            <a:off x="896112" y="3941064"/>
            <a:ext cx="402336" cy="402336"/>
          </a:xfrm>
          <a:prstGeom prst="rect">
            <a:avLst/>
          </a:prstGeom>
          <a:noFill/>
          <a:ln/>
        </p:spPr>
        <p:txBody>
          <a:bodyPr wrap="square" lIns="0" tIns="0" rIns="0" bIns="0" rtlCol="0" anchor="ctr"/>
          <a:lstStyle/>
          <a:p>
            <a:pPr algn="ctr" indent="0" marL="0">
              <a:buNone/>
            </a:pPr>
            <a:r>
              <a:rPr lang="en-US" sz="1400" b="1" dirty="0">
                <a:solidFill>
                  <a:srgbClr val="0F1B3D"/>
                </a:solidFill>
                <a:latin typeface="Calibri" pitchFamily="34" charset="0"/>
                <a:ea typeface="Calibri" pitchFamily="34" charset="-122"/>
                <a:cs typeface="Calibri" pitchFamily="34" charset="-120"/>
              </a:rPr>
              <a:t>!</a:t>
            </a:r>
            <a:endParaRPr lang="en-US" sz="1400" dirty="0"/>
          </a:p>
        </p:txBody>
      </p:sp>
      <p:sp>
        <p:nvSpPr>
          <p:cNvPr id="18" name="Text 16"/>
          <p:cNvSpPr/>
          <p:nvPr/>
        </p:nvSpPr>
        <p:spPr>
          <a:xfrm>
            <a:off x="1481328" y="3813048"/>
            <a:ext cx="4206240" cy="274320"/>
          </a:xfrm>
          <a:prstGeom prst="rect">
            <a:avLst/>
          </a:prstGeom>
          <a:noFill/>
          <a:ln/>
        </p:spPr>
        <p:txBody>
          <a:bodyPr wrap="square" lIns="0" tIns="0" rIns="0" bIns="0" rtlCol="0" anchor="ctr"/>
          <a:lstStyle/>
          <a:p>
            <a:pPr indent="0" marL="0">
              <a:buNone/>
            </a:pPr>
            <a:r>
              <a:rPr lang="en-US" sz="1550" b="1" dirty="0">
                <a:solidFill>
                  <a:srgbClr val="0F1B3D"/>
                </a:solidFill>
                <a:latin typeface="Calibri" pitchFamily="34" charset="0"/>
                <a:ea typeface="Calibri" pitchFamily="34" charset="-122"/>
                <a:cs typeface="Calibri" pitchFamily="34" charset="-120"/>
              </a:rPr>
              <a:t>Unverifiable candidates</a:t>
            </a:r>
            <a:endParaRPr lang="en-US" sz="1550" dirty="0"/>
          </a:p>
        </p:txBody>
      </p:sp>
      <p:sp>
        <p:nvSpPr>
          <p:cNvPr id="19" name="Text 17"/>
          <p:cNvSpPr/>
          <p:nvPr/>
        </p:nvSpPr>
        <p:spPr>
          <a:xfrm>
            <a:off x="1481328" y="4114800"/>
            <a:ext cx="4251960" cy="68580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No structured history means no shortlist, no comparison, no confidence.</a:t>
            </a:r>
            <a:endParaRPr lang="en-US" sz="1250" dirty="0"/>
          </a:p>
        </p:txBody>
      </p:sp>
      <p:sp>
        <p:nvSpPr>
          <p:cNvPr id="20" name="Shape 18"/>
          <p:cNvSpPr/>
          <p:nvPr/>
        </p:nvSpPr>
        <p:spPr>
          <a:xfrm>
            <a:off x="6172200" y="3611880"/>
            <a:ext cx="5257800" cy="1298448"/>
          </a:xfrm>
          <a:prstGeom prst="roundRect">
            <a:avLst>
              <a:gd name="adj" fmla="val 9859"/>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21" name="Shape 19"/>
          <p:cNvSpPr/>
          <p:nvPr/>
        </p:nvSpPr>
        <p:spPr>
          <a:xfrm>
            <a:off x="6428232" y="3941064"/>
            <a:ext cx="402336" cy="402336"/>
          </a:xfrm>
          <a:prstGeom prst="ellipse">
            <a:avLst/>
          </a:prstGeom>
          <a:solidFill>
            <a:srgbClr val="16C89A"/>
          </a:solidFill>
          <a:ln w="12700">
            <a:solidFill>
              <a:srgbClr val="16C89A"/>
            </a:solidFill>
            <a:prstDash val="solid"/>
          </a:ln>
        </p:spPr>
      </p:sp>
      <p:sp>
        <p:nvSpPr>
          <p:cNvPr id="22" name="Text 20"/>
          <p:cNvSpPr/>
          <p:nvPr/>
        </p:nvSpPr>
        <p:spPr>
          <a:xfrm>
            <a:off x="6428232" y="3941064"/>
            <a:ext cx="402336" cy="402336"/>
          </a:xfrm>
          <a:prstGeom prst="rect">
            <a:avLst/>
          </a:prstGeom>
          <a:noFill/>
          <a:ln/>
        </p:spPr>
        <p:txBody>
          <a:bodyPr wrap="square" lIns="0" tIns="0" rIns="0" bIns="0" rtlCol="0" anchor="ctr"/>
          <a:lstStyle/>
          <a:p>
            <a:pPr algn="ctr" indent="0" marL="0">
              <a:buNone/>
            </a:pPr>
            <a:r>
              <a:rPr lang="en-US" sz="1400" b="1" dirty="0">
                <a:solidFill>
                  <a:srgbClr val="0F1B3D"/>
                </a:solidFill>
                <a:latin typeface="Calibri" pitchFamily="34" charset="0"/>
                <a:ea typeface="Calibri" pitchFamily="34" charset="-122"/>
                <a:cs typeface="Calibri" pitchFamily="34" charset="-120"/>
              </a:rPr>
              <a:t>!</a:t>
            </a:r>
            <a:endParaRPr lang="en-US" sz="1400" dirty="0"/>
          </a:p>
        </p:txBody>
      </p:sp>
      <p:sp>
        <p:nvSpPr>
          <p:cNvPr id="23" name="Text 21"/>
          <p:cNvSpPr/>
          <p:nvPr/>
        </p:nvSpPr>
        <p:spPr>
          <a:xfrm>
            <a:off x="7013448" y="3813048"/>
            <a:ext cx="4206240" cy="274320"/>
          </a:xfrm>
          <a:prstGeom prst="rect">
            <a:avLst/>
          </a:prstGeom>
          <a:noFill/>
          <a:ln/>
        </p:spPr>
        <p:txBody>
          <a:bodyPr wrap="square" lIns="0" tIns="0" rIns="0" bIns="0" rtlCol="0" anchor="ctr"/>
          <a:lstStyle/>
          <a:p>
            <a:pPr indent="0" marL="0">
              <a:buNone/>
            </a:pPr>
            <a:r>
              <a:rPr lang="en-US" sz="1550" b="1" dirty="0">
                <a:solidFill>
                  <a:srgbClr val="0F1B3D"/>
                </a:solidFill>
                <a:latin typeface="Calibri" pitchFamily="34" charset="0"/>
                <a:ea typeface="Calibri" pitchFamily="34" charset="-122"/>
                <a:cs typeface="Calibri" pitchFamily="34" charset="-120"/>
              </a:rPr>
              <a:t>Margin lost to manual work</a:t>
            </a:r>
            <a:endParaRPr lang="en-US" sz="1550" dirty="0"/>
          </a:p>
        </p:txBody>
      </p:sp>
      <p:sp>
        <p:nvSpPr>
          <p:cNvPr id="24" name="Text 22"/>
          <p:cNvSpPr/>
          <p:nvPr/>
        </p:nvSpPr>
        <p:spPr>
          <a:xfrm>
            <a:off x="7013448" y="4114800"/>
            <a:ext cx="4251960" cy="68580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Consultants spend hours transcribing what a candidate said into something searchable.</a:t>
            </a:r>
            <a:endParaRPr lang="en-US" sz="1250" dirty="0"/>
          </a:p>
        </p:txBody>
      </p:sp>
      <p:sp>
        <p:nvSpPr>
          <p:cNvPr id="25" name="Text 23"/>
          <p:cNvSpPr/>
          <p:nvPr/>
        </p:nvSpPr>
        <p:spPr>
          <a:xfrm>
            <a:off x="640080" y="6400800"/>
            <a:ext cx="1828800" cy="228600"/>
          </a:xfrm>
          <a:prstGeom prst="rect">
            <a:avLst/>
          </a:prstGeom>
          <a:noFill/>
          <a:ln/>
        </p:spPr>
        <p:txBody>
          <a:bodyPr wrap="square" lIns="0" tIns="0" rIns="0" bIns="0" rtlCol="0" anchor="ctr"/>
          <a:lstStyle/>
          <a:p>
            <a:pPr indent="0" marL="0">
              <a:buNone/>
            </a:pPr>
            <a:r>
              <a:rPr lang="en-US" sz="900" dirty="0">
                <a:solidFill>
                  <a:srgbClr val="A6ADB8"/>
                </a:solidFill>
                <a:latin typeface="Calibri" pitchFamily="34" charset="0"/>
                <a:ea typeface="Calibri" pitchFamily="34" charset="-122"/>
                <a:cs typeface="Calibri" pitchFamily="34" charset="-120"/>
              </a:rPr>
              <a:t>Naatiq</a:t>
            </a:r>
            <a:endParaRPr lang="en-US" sz="900" dirty="0"/>
          </a:p>
        </p:txBody>
      </p:sp>
      <p:sp>
        <p:nvSpPr>
          <p:cNvPr id="26" name="Text 24"/>
          <p:cNvSpPr/>
          <p:nvPr/>
        </p:nvSpPr>
        <p:spPr>
          <a:xfrm>
            <a:off x="10607040" y="6400800"/>
            <a:ext cx="914400" cy="228600"/>
          </a:xfrm>
          <a:prstGeom prst="rect">
            <a:avLst/>
          </a:prstGeom>
          <a:noFill/>
          <a:ln/>
        </p:spPr>
        <p:txBody>
          <a:bodyPr wrap="square" lIns="0" tIns="0" rIns="0" bIns="0" rtlCol="0" anchor="ctr"/>
          <a:lstStyle/>
          <a:p>
            <a:pPr algn="r" indent="0" marL="0">
              <a:buNone/>
            </a:pPr>
            <a:r>
              <a:rPr lang="en-US" sz="900" dirty="0">
                <a:solidFill>
                  <a:srgbClr val="A6ADB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3D"/>
        </a:solidFill>
      </p:bgPr>
    </p:bg>
    <p:spTree>
      <p:nvGrpSpPr>
        <p:cNvPr id="1" name=""/>
        <p:cNvGrpSpPr/>
        <p:nvPr/>
      </p:nvGrpSpPr>
      <p:grpSpPr>
        <a:xfrm>
          <a:off x="0" y="0"/>
          <a:ext cx="0" cy="0"/>
          <a:chOff x="0" y="0"/>
          <a:chExt cx="0" cy="0"/>
        </a:xfrm>
      </p:grpSpPr>
      <p:sp>
        <p:nvSpPr>
          <p:cNvPr id="2" name="Text 0"/>
          <p:cNvSpPr/>
          <p:nvPr/>
        </p:nvSpPr>
        <p:spPr>
          <a:xfrm>
            <a:off x="640080" y="822960"/>
            <a:ext cx="5486400" cy="274320"/>
          </a:xfrm>
          <a:prstGeom prst="rect">
            <a:avLst/>
          </a:prstGeom>
          <a:noFill/>
          <a:ln/>
        </p:spPr>
        <p:txBody>
          <a:bodyPr wrap="square" lIns="0" tIns="0" rIns="0" bIns="0" rtlCol="0" anchor="ctr"/>
          <a:lstStyle/>
          <a:p>
            <a:pPr indent="0" marL="0">
              <a:buNone/>
            </a:pPr>
            <a:r>
              <a:rPr lang="en-US" sz="1100" b="1" spc="200" kern="0" dirty="0">
                <a:solidFill>
                  <a:srgbClr val="16C89A"/>
                </a:solidFill>
                <a:latin typeface="Calibri" pitchFamily="34" charset="0"/>
                <a:ea typeface="Calibri" pitchFamily="34" charset="-122"/>
                <a:cs typeface="Calibri" pitchFamily="34" charset="-120"/>
              </a:rPr>
              <a:t>WHAT IT IS</a:t>
            </a:r>
            <a:endParaRPr lang="en-US" sz="1100" dirty="0"/>
          </a:p>
        </p:txBody>
      </p:sp>
      <p:sp>
        <p:nvSpPr>
          <p:cNvPr id="3" name="Text 1"/>
          <p:cNvSpPr/>
          <p:nvPr/>
        </p:nvSpPr>
        <p:spPr>
          <a:xfrm>
            <a:off x="640080" y="1234440"/>
            <a:ext cx="6766560" cy="1737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 WhatsApp agent that turns a spoken conversation into a structured candidate profile.</a:t>
            </a:r>
            <a:endParaRPr lang="en-US" sz="3000" dirty="0"/>
          </a:p>
        </p:txBody>
      </p:sp>
      <p:sp>
        <p:nvSpPr>
          <p:cNvPr id="4" name="Text 2"/>
          <p:cNvSpPr/>
          <p:nvPr/>
        </p:nvSpPr>
        <p:spPr>
          <a:xfrm>
            <a:off x="640080" y="3154680"/>
            <a:ext cx="6583680" cy="1280160"/>
          </a:xfrm>
          <a:prstGeom prst="rect">
            <a:avLst/>
          </a:prstGeom>
          <a:noFill/>
          <a:ln/>
        </p:spPr>
        <p:txBody>
          <a:bodyPr wrap="square" lIns="0" tIns="0" rIns="0" bIns="0" rtlCol="0" anchor="ctr"/>
          <a:lstStyle/>
          <a:p>
            <a:pPr indent="0" marL="0">
              <a:buNone/>
            </a:pPr>
            <a:r>
              <a:rPr lang="en-US" sz="1500" dirty="0">
                <a:solidFill>
                  <a:srgbClr val="BFCCE5"/>
                </a:solidFill>
                <a:latin typeface="Calibri" pitchFamily="34" charset="0"/>
                <a:ea typeface="Calibri" pitchFamily="34" charset="-122"/>
                <a:cs typeface="Calibri" pitchFamily="34" charset="-120"/>
              </a:rPr>
              <a:t>No app to install. No form to fill in. No literacy or typing required. The worker speaks in their own dialect; you receive searchable, comparable data and a professional bilingual CV.</a:t>
            </a:r>
            <a:endParaRPr lang="en-US" sz="1500" dirty="0"/>
          </a:p>
        </p:txBody>
      </p:sp>
      <p:sp>
        <p:nvSpPr>
          <p:cNvPr id="5" name="Shape 3"/>
          <p:cNvSpPr/>
          <p:nvPr/>
        </p:nvSpPr>
        <p:spPr>
          <a:xfrm>
            <a:off x="640080" y="4709160"/>
            <a:ext cx="2057400" cy="457200"/>
          </a:xfrm>
          <a:prstGeom prst="roundRect">
            <a:avLst>
              <a:gd name="adj" fmla="val 50000"/>
            </a:avLst>
          </a:prstGeom>
          <a:solidFill>
            <a:srgbClr val="1B2A52"/>
          </a:solidFill>
          <a:ln w="12700">
            <a:solidFill>
              <a:srgbClr val="2A3A63"/>
            </a:solidFill>
            <a:prstDash val="solid"/>
          </a:ln>
        </p:spPr>
      </p:sp>
      <p:sp>
        <p:nvSpPr>
          <p:cNvPr id="6" name="Text 4"/>
          <p:cNvSpPr/>
          <p:nvPr/>
        </p:nvSpPr>
        <p:spPr>
          <a:xfrm>
            <a:off x="640080" y="4709160"/>
            <a:ext cx="20574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Arabic voice</a:t>
            </a:r>
            <a:endParaRPr lang="en-US" sz="1200" dirty="0"/>
          </a:p>
        </p:txBody>
      </p:sp>
      <p:sp>
        <p:nvSpPr>
          <p:cNvPr id="7" name="Shape 5"/>
          <p:cNvSpPr/>
          <p:nvPr/>
        </p:nvSpPr>
        <p:spPr>
          <a:xfrm>
            <a:off x="2880360" y="4709160"/>
            <a:ext cx="2057400" cy="457200"/>
          </a:xfrm>
          <a:prstGeom prst="roundRect">
            <a:avLst>
              <a:gd name="adj" fmla="val 50000"/>
            </a:avLst>
          </a:prstGeom>
          <a:solidFill>
            <a:srgbClr val="1B2A52"/>
          </a:solidFill>
          <a:ln w="12700">
            <a:solidFill>
              <a:srgbClr val="2A3A63"/>
            </a:solidFill>
            <a:prstDash val="solid"/>
          </a:ln>
        </p:spPr>
      </p:sp>
      <p:sp>
        <p:nvSpPr>
          <p:cNvPr id="8" name="Text 6"/>
          <p:cNvSpPr/>
          <p:nvPr/>
        </p:nvSpPr>
        <p:spPr>
          <a:xfrm>
            <a:off x="2880360" y="4709160"/>
            <a:ext cx="20574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Bilingual output</a:t>
            </a:r>
            <a:endParaRPr lang="en-US" sz="1200" dirty="0"/>
          </a:p>
        </p:txBody>
      </p:sp>
      <p:sp>
        <p:nvSpPr>
          <p:cNvPr id="9" name="Shape 7"/>
          <p:cNvSpPr/>
          <p:nvPr/>
        </p:nvSpPr>
        <p:spPr>
          <a:xfrm>
            <a:off x="5120640" y="4709160"/>
            <a:ext cx="2057400" cy="457200"/>
          </a:xfrm>
          <a:prstGeom prst="roundRect">
            <a:avLst>
              <a:gd name="adj" fmla="val 50000"/>
            </a:avLst>
          </a:prstGeom>
          <a:solidFill>
            <a:srgbClr val="1B2A52"/>
          </a:solidFill>
          <a:ln w="12700">
            <a:solidFill>
              <a:srgbClr val="2A3A63"/>
            </a:solidFill>
            <a:prstDash val="solid"/>
          </a:ln>
        </p:spPr>
      </p:sp>
      <p:sp>
        <p:nvSpPr>
          <p:cNvPr id="10" name="Text 8"/>
          <p:cNvSpPr/>
          <p:nvPr/>
        </p:nvSpPr>
        <p:spPr>
          <a:xfrm>
            <a:off x="5120640" y="4709160"/>
            <a:ext cx="20574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Zero candidate cost</a:t>
            </a:r>
            <a:endParaRPr lang="en-US" sz="1200" dirty="0"/>
          </a:p>
        </p:txBody>
      </p:sp>
      <p:sp>
        <p:nvSpPr>
          <p:cNvPr id="11" name="Shape 9"/>
          <p:cNvSpPr/>
          <p:nvPr/>
        </p:nvSpPr>
        <p:spPr>
          <a:xfrm>
            <a:off x="7818120" y="1234440"/>
            <a:ext cx="3703320" cy="4206240"/>
          </a:xfrm>
          <a:prstGeom prst="roundRect">
            <a:avLst>
              <a:gd name="adj" fmla="val 4444"/>
            </a:avLst>
          </a:prstGeom>
          <a:solidFill>
            <a:srgbClr val="16234A"/>
          </a:solidFill>
          <a:ln w="12700">
            <a:solidFill>
              <a:srgbClr val="2A3A63"/>
            </a:solidFill>
            <a:prstDash val="solid"/>
          </a:ln>
        </p:spPr>
      </p:sp>
      <p:sp>
        <p:nvSpPr>
          <p:cNvPr id="12" name="Shape 10"/>
          <p:cNvSpPr/>
          <p:nvPr/>
        </p:nvSpPr>
        <p:spPr>
          <a:xfrm>
            <a:off x="8138160" y="1600200"/>
            <a:ext cx="365760" cy="365760"/>
          </a:xfrm>
          <a:prstGeom prst="ellipse">
            <a:avLst/>
          </a:prstGeom>
          <a:solidFill>
            <a:srgbClr val="2F5FFF"/>
          </a:solidFill>
          <a:ln w="12700">
            <a:solidFill>
              <a:srgbClr val="2F5FFF"/>
            </a:solidFill>
            <a:prstDash val="solid"/>
          </a:ln>
        </p:spPr>
      </p:sp>
      <p:sp>
        <p:nvSpPr>
          <p:cNvPr id="13" name="Text 11"/>
          <p:cNvSpPr/>
          <p:nvPr/>
        </p:nvSpPr>
        <p:spPr>
          <a:xfrm>
            <a:off x="8138160" y="16002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2"/>
          <p:cNvSpPr/>
          <p:nvPr/>
        </p:nvSpPr>
        <p:spPr>
          <a:xfrm>
            <a:off x="8641080" y="1618488"/>
            <a:ext cx="2743200" cy="329184"/>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Voice note on WhatsApp</a:t>
            </a:r>
            <a:endParaRPr lang="en-US" sz="1250" dirty="0"/>
          </a:p>
        </p:txBody>
      </p:sp>
      <p:sp>
        <p:nvSpPr>
          <p:cNvPr id="15" name="Shape 13"/>
          <p:cNvSpPr/>
          <p:nvPr/>
        </p:nvSpPr>
        <p:spPr>
          <a:xfrm>
            <a:off x="8138160" y="2377440"/>
            <a:ext cx="365760" cy="365760"/>
          </a:xfrm>
          <a:prstGeom prst="ellipse">
            <a:avLst/>
          </a:prstGeom>
          <a:solidFill>
            <a:srgbClr val="2F5FFF"/>
          </a:solidFill>
          <a:ln w="12700">
            <a:solidFill>
              <a:srgbClr val="2F5FFF"/>
            </a:solidFill>
            <a:prstDash val="solid"/>
          </a:ln>
        </p:spPr>
      </p:sp>
      <p:sp>
        <p:nvSpPr>
          <p:cNvPr id="16" name="Text 14"/>
          <p:cNvSpPr/>
          <p:nvPr/>
        </p:nvSpPr>
        <p:spPr>
          <a:xfrm>
            <a:off x="8138160" y="23774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5"/>
          <p:cNvSpPr/>
          <p:nvPr/>
        </p:nvSpPr>
        <p:spPr>
          <a:xfrm>
            <a:off x="8641080" y="2395728"/>
            <a:ext cx="2743200" cy="329184"/>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Transcribed in dialect</a:t>
            </a:r>
            <a:endParaRPr lang="en-US" sz="1250" dirty="0"/>
          </a:p>
        </p:txBody>
      </p:sp>
      <p:sp>
        <p:nvSpPr>
          <p:cNvPr id="18" name="Shape 16"/>
          <p:cNvSpPr/>
          <p:nvPr/>
        </p:nvSpPr>
        <p:spPr>
          <a:xfrm>
            <a:off x="8138160" y="3154680"/>
            <a:ext cx="365760" cy="365760"/>
          </a:xfrm>
          <a:prstGeom prst="ellipse">
            <a:avLst/>
          </a:prstGeom>
          <a:solidFill>
            <a:srgbClr val="2F5FFF"/>
          </a:solidFill>
          <a:ln w="12700">
            <a:solidFill>
              <a:srgbClr val="2F5FFF"/>
            </a:solidFill>
            <a:prstDash val="solid"/>
          </a:ln>
        </p:spPr>
      </p:sp>
      <p:sp>
        <p:nvSpPr>
          <p:cNvPr id="19" name="Text 17"/>
          <p:cNvSpPr/>
          <p:nvPr/>
        </p:nvSpPr>
        <p:spPr>
          <a:xfrm>
            <a:off x="8138160" y="31546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p:nvPr/>
        </p:nvSpPr>
        <p:spPr>
          <a:xfrm>
            <a:off x="8641080" y="3172968"/>
            <a:ext cx="2743200" cy="329184"/>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Interviewed by AI</a:t>
            </a:r>
            <a:endParaRPr lang="en-US" sz="1250" dirty="0"/>
          </a:p>
        </p:txBody>
      </p:sp>
      <p:sp>
        <p:nvSpPr>
          <p:cNvPr id="21" name="Shape 19"/>
          <p:cNvSpPr/>
          <p:nvPr/>
        </p:nvSpPr>
        <p:spPr>
          <a:xfrm>
            <a:off x="8138160" y="3931920"/>
            <a:ext cx="365760" cy="365760"/>
          </a:xfrm>
          <a:prstGeom prst="ellipse">
            <a:avLst/>
          </a:prstGeom>
          <a:solidFill>
            <a:srgbClr val="2F5FFF"/>
          </a:solidFill>
          <a:ln w="12700">
            <a:solidFill>
              <a:srgbClr val="2F5FFF"/>
            </a:solidFill>
            <a:prstDash val="solid"/>
          </a:ln>
        </p:spPr>
      </p:sp>
      <p:sp>
        <p:nvSpPr>
          <p:cNvPr id="22" name="Text 20"/>
          <p:cNvSpPr/>
          <p:nvPr/>
        </p:nvSpPr>
        <p:spPr>
          <a:xfrm>
            <a:off x="8138160" y="39319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8641080" y="3950208"/>
            <a:ext cx="2743200" cy="329184"/>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Structured profile</a:t>
            </a:r>
            <a:endParaRPr lang="en-US" sz="1250" dirty="0"/>
          </a:p>
        </p:txBody>
      </p:sp>
      <p:sp>
        <p:nvSpPr>
          <p:cNvPr id="24" name="Shape 22"/>
          <p:cNvSpPr/>
          <p:nvPr/>
        </p:nvSpPr>
        <p:spPr>
          <a:xfrm>
            <a:off x="8138160" y="4709160"/>
            <a:ext cx="365760" cy="365760"/>
          </a:xfrm>
          <a:prstGeom prst="ellipse">
            <a:avLst/>
          </a:prstGeom>
          <a:solidFill>
            <a:srgbClr val="16C89A"/>
          </a:solidFill>
          <a:ln w="12700">
            <a:solidFill>
              <a:srgbClr val="16C89A"/>
            </a:solidFill>
            <a:prstDash val="solid"/>
          </a:ln>
        </p:spPr>
      </p:sp>
      <p:sp>
        <p:nvSpPr>
          <p:cNvPr id="25" name="Text 23"/>
          <p:cNvSpPr/>
          <p:nvPr/>
        </p:nvSpPr>
        <p:spPr>
          <a:xfrm>
            <a:off x="8138160" y="4709160"/>
            <a:ext cx="365760" cy="365760"/>
          </a:xfrm>
          <a:prstGeom prst="rect">
            <a:avLst/>
          </a:prstGeom>
          <a:noFill/>
          <a:ln/>
        </p:spPr>
        <p:txBody>
          <a:bodyPr wrap="square" lIns="0" tIns="0" rIns="0" bIns="0" rtlCol="0" anchor="ctr"/>
          <a:lstStyle/>
          <a:p>
            <a:pPr algn="ctr" indent="0" marL="0">
              <a:buNone/>
            </a:pPr>
            <a:r>
              <a:rPr lang="en-US" sz="1400" b="1" dirty="0">
                <a:solidFill>
                  <a:srgbClr val="0F1B3D"/>
                </a:solidFill>
                <a:latin typeface="Calibri" pitchFamily="34" charset="0"/>
                <a:ea typeface="Calibri" pitchFamily="34" charset="-122"/>
                <a:cs typeface="Calibri" pitchFamily="34" charset="-120"/>
              </a:rPr>
              <a:t>5</a:t>
            </a:r>
            <a:endParaRPr lang="en-US" sz="1400" dirty="0"/>
          </a:p>
        </p:txBody>
      </p:sp>
      <p:sp>
        <p:nvSpPr>
          <p:cNvPr id="26" name="Text 24"/>
          <p:cNvSpPr/>
          <p:nvPr/>
        </p:nvSpPr>
        <p:spPr>
          <a:xfrm>
            <a:off x="8641080" y="4727448"/>
            <a:ext cx="2743200" cy="329184"/>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Bilingual CV returned</a:t>
            </a:r>
            <a:endParaRPr lang="en-US" sz="1250" dirty="0"/>
          </a:p>
        </p:txBody>
      </p:sp>
      <p:sp>
        <p:nvSpPr>
          <p:cNvPr id="27" name="Text 25"/>
          <p:cNvSpPr/>
          <p:nvPr/>
        </p:nvSpPr>
        <p:spPr>
          <a:xfrm>
            <a:off x="640080" y="6400800"/>
            <a:ext cx="1828800" cy="228600"/>
          </a:xfrm>
          <a:prstGeom prst="rect">
            <a:avLst/>
          </a:prstGeom>
          <a:noFill/>
          <a:ln/>
        </p:spPr>
        <p:txBody>
          <a:bodyPr wrap="square" lIns="0" tIns="0" rIns="0" bIns="0" rtlCol="0" anchor="ctr"/>
          <a:lstStyle/>
          <a:p>
            <a:pPr indent="0" marL="0">
              <a:buNone/>
            </a:pPr>
            <a:r>
              <a:rPr lang="en-US" sz="900" dirty="0">
                <a:solidFill>
                  <a:srgbClr val="A6ADB8"/>
                </a:solidFill>
                <a:latin typeface="Calibri" pitchFamily="34" charset="0"/>
                <a:ea typeface="Calibri" pitchFamily="34" charset="-122"/>
                <a:cs typeface="Calibri" pitchFamily="34" charset="-120"/>
              </a:rPr>
              <a:t>Naatiq</a:t>
            </a:r>
            <a:endParaRPr lang="en-US" sz="900" dirty="0"/>
          </a:p>
        </p:txBody>
      </p:sp>
      <p:sp>
        <p:nvSpPr>
          <p:cNvPr id="28" name="Text 26"/>
          <p:cNvSpPr/>
          <p:nvPr/>
        </p:nvSpPr>
        <p:spPr>
          <a:xfrm>
            <a:off x="10607040" y="6400800"/>
            <a:ext cx="914400" cy="228600"/>
          </a:xfrm>
          <a:prstGeom prst="rect">
            <a:avLst/>
          </a:prstGeom>
          <a:noFill/>
          <a:ln/>
        </p:spPr>
        <p:txBody>
          <a:bodyPr wrap="square" lIns="0" tIns="0" rIns="0" bIns="0" rtlCol="0" anchor="ctr"/>
          <a:lstStyle/>
          <a:p>
            <a:pPr algn="r" indent="0" marL="0">
              <a:buNone/>
            </a:pPr>
            <a:r>
              <a:rPr lang="en-US" sz="900" dirty="0">
                <a:solidFill>
                  <a:srgbClr val="A6ADB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F5FFF"/>
                </a:solidFill>
                <a:latin typeface="Calibri" pitchFamily="34" charset="0"/>
                <a:ea typeface="Calibri" pitchFamily="34" charset="-122"/>
                <a:cs typeface="Calibri" pitchFamily="34" charset="-120"/>
              </a:rPr>
              <a:t>HOW IT WORKS</a:t>
            </a:r>
            <a:endParaRPr lang="en-US" sz="1100" dirty="0"/>
          </a:p>
        </p:txBody>
      </p:sp>
      <p:sp>
        <p:nvSpPr>
          <p:cNvPr id="3" name="Text 1"/>
          <p:cNvSpPr/>
          <p:nvPr/>
        </p:nvSpPr>
        <p:spPr>
          <a:xfrm>
            <a:off x="640080" y="658368"/>
            <a:ext cx="10881360" cy="658368"/>
          </a:xfrm>
          <a:prstGeom prst="rect">
            <a:avLst/>
          </a:prstGeom>
          <a:noFill/>
          <a:ln/>
        </p:spPr>
        <p:txBody>
          <a:bodyPr wrap="square" lIns="0" tIns="0" rIns="0" bIns="0" rtlCol="0" anchor="ctr"/>
          <a:lstStyle/>
          <a:p>
            <a:pPr indent="0" marL="0">
              <a:buNone/>
            </a:pPr>
            <a:r>
              <a:rPr lang="en-US" sz="3400" b="1" dirty="0">
                <a:solidFill>
                  <a:srgbClr val="0F1B3D"/>
                </a:solidFill>
                <a:latin typeface="Calibri" pitchFamily="34" charset="0"/>
                <a:ea typeface="Calibri" pitchFamily="34" charset="-122"/>
                <a:cs typeface="Calibri" pitchFamily="34" charset="-120"/>
              </a:rPr>
              <a:t>Four steps, all inside WhatsApp</a:t>
            </a:r>
            <a:endParaRPr lang="en-US" sz="3400" dirty="0"/>
          </a:p>
        </p:txBody>
      </p:sp>
      <p:sp>
        <p:nvSpPr>
          <p:cNvPr id="4" name="Shape 2"/>
          <p:cNvSpPr/>
          <p:nvPr/>
        </p:nvSpPr>
        <p:spPr>
          <a:xfrm>
            <a:off x="640080" y="2194560"/>
            <a:ext cx="2560320" cy="2514600"/>
          </a:xfrm>
          <a:prstGeom prst="roundRect">
            <a:avLst>
              <a:gd name="adj" fmla="val 5091"/>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5" name="Shape 3"/>
          <p:cNvSpPr/>
          <p:nvPr/>
        </p:nvSpPr>
        <p:spPr>
          <a:xfrm>
            <a:off x="914400" y="2487168"/>
            <a:ext cx="475488" cy="475488"/>
          </a:xfrm>
          <a:prstGeom prst="ellipse">
            <a:avLst/>
          </a:prstGeom>
          <a:solidFill>
            <a:srgbClr val="2F5FFF"/>
          </a:solidFill>
          <a:ln w="12700">
            <a:solidFill>
              <a:srgbClr val="2F5FFF"/>
            </a:solidFill>
            <a:prstDash val="solid"/>
          </a:ln>
        </p:spPr>
      </p:sp>
      <p:sp>
        <p:nvSpPr>
          <p:cNvPr id="6" name="Text 4"/>
          <p:cNvSpPr/>
          <p:nvPr/>
        </p:nvSpPr>
        <p:spPr>
          <a:xfrm>
            <a:off x="914400" y="248716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914400" y="3127248"/>
            <a:ext cx="2103120" cy="292608"/>
          </a:xfrm>
          <a:prstGeom prst="rect">
            <a:avLst/>
          </a:prstGeom>
          <a:noFill/>
          <a:ln/>
        </p:spPr>
        <p:txBody>
          <a:bodyPr wrap="square" lIns="0" tIns="0" rIns="0" bIns="0" rtlCol="0" anchor="ctr"/>
          <a:lstStyle/>
          <a:p>
            <a:pPr indent="0" marL="0">
              <a:buNone/>
            </a:pPr>
            <a:r>
              <a:rPr lang="en-US" sz="1700" b="1" dirty="0">
                <a:solidFill>
                  <a:srgbClr val="0F1B3D"/>
                </a:solidFill>
                <a:latin typeface="Calibri" pitchFamily="34" charset="0"/>
                <a:ea typeface="Calibri" pitchFamily="34" charset="-122"/>
                <a:cs typeface="Calibri" pitchFamily="34" charset="-120"/>
              </a:rPr>
              <a:t>Talk</a:t>
            </a:r>
            <a:endParaRPr lang="en-US" sz="1700" dirty="0"/>
          </a:p>
        </p:txBody>
      </p:sp>
      <p:sp>
        <p:nvSpPr>
          <p:cNvPr id="8" name="Text 6"/>
          <p:cNvSpPr/>
          <p:nvPr/>
        </p:nvSpPr>
        <p:spPr>
          <a:xfrm>
            <a:off x="914400" y="3474720"/>
            <a:ext cx="2057400" cy="109728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The worker sends a voice note in their own Arabic dialect.</a:t>
            </a:r>
            <a:endParaRPr lang="en-US" sz="1250" dirty="0"/>
          </a:p>
        </p:txBody>
      </p:sp>
      <p:sp>
        <p:nvSpPr>
          <p:cNvPr id="9" name="Text 7"/>
          <p:cNvSpPr/>
          <p:nvPr/>
        </p:nvSpPr>
        <p:spPr>
          <a:xfrm>
            <a:off x="3218688" y="3108960"/>
            <a:ext cx="219456" cy="365760"/>
          </a:xfrm>
          <a:prstGeom prst="rect">
            <a:avLst/>
          </a:prstGeom>
          <a:noFill/>
          <a:ln/>
        </p:spPr>
        <p:txBody>
          <a:bodyPr wrap="square" lIns="0" tIns="0" rIns="0" bIns="0" rtlCol="0" anchor="ctr"/>
          <a:lstStyle/>
          <a:p>
            <a:pPr algn="ctr" indent="0" marL="0">
              <a:buNone/>
            </a:pPr>
            <a:r>
              <a:rPr lang="en-US" sz="2200" b="1" dirty="0">
                <a:solidFill>
                  <a:srgbClr val="A6ADB8"/>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3429000" y="2194560"/>
            <a:ext cx="2560320" cy="2514600"/>
          </a:xfrm>
          <a:prstGeom prst="roundRect">
            <a:avLst>
              <a:gd name="adj" fmla="val 5091"/>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11" name="Shape 9"/>
          <p:cNvSpPr/>
          <p:nvPr/>
        </p:nvSpPr>
        <p:spPr>
          <a:xfrm>
            <a:off x="3703320" y="2487168"/>
            <a:ext cx="475488" cy="475488"/>
          </a:xfrm>
          <a:prstGeom prst="ellipse">
            <a:avLst/>
          </a:prstGeom>
          <a:solidFill>
            <a:srgbClr val="2F5FFF"/>
          </a:solidFill>
          <a:ln w="12700">
            <a:solidFill>
              <a:srgbClr val="2F5FFF"/>
            </a:solidFill>
            <a:prstDash val="solid"/>
          </a:ln>
        </p:spPr>
      </p:sp>
      <p:sp>
        <p:nvSpPr>
          <p:cNvPr id="12" name="Text 10"/>
          <p:cNvSpPr/>
          <p:nvPr/>
        </p:nvSpPr>
        <p:spPr>
          <a:xfrm>
            <a:off x="3703320" y="248716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3703320" y="3127248"/>
            <a:ext cx="2103120" cy="292608"/>
          </a:xfrm>
          <a:prstGeom prst="rect">
            <a:avLst/>
          </a:prstGeom>
          <a:noFill/>
          <a:ln/>
        </p:spPr>
        <p:txBody>
          <a:bodyPr wrap="square" lIns="0" tIns="0" rIns="0" bIns="0" rtlCol="0" anchor="ctr"/>
          <a:lstStyle/>
          <a:p>
            <a:pPr indent="0" marL="0">
              <a:buNone/>
            </a:pPr>
            <a:r>
              <a:rPr lang="en-US" sz="1700" b="1" dirty="0">
                <a:solidFill>
                  <a:srgbClr val="0F1B3D"/>
                </a:solidFill>
                <a:latin typeface="Calibri" pitchFamily="34" charset="0"/>
                <a:ea typeface="Calibri" pitchFamily="34" charset="-122"/>
                <a:cs typeface="Calibri" pitchFamily="34" charset="-120"/>
              </a:rPr>
              <a:t>Understand</a:t>
            </a:r>
            <a:endParaRPr lang="en-US" sz="1700" dirty="0"/>
          </a:p>
        </p:txBody>
      </p:sp>
      <p:sp>
        <p:nvSpPr>
          <p:cNvPr id="14" name="Text 12"/>
          <p:cNvSpPr/>
          <p:nvPr/>
        </p:nvSpPr>
        <p:spPr>
          <a:xfrm>
            <a:off x="3703320" y="3474720"/>
            <a:ext cx="2057400" cy="109728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Speech-to-text plus an AI interviewer that asks one warm question at a time.</a:t>
            </a:r>
            <a:endParaRPr lang="en-US" sz="1250" dirty="0"/>
          </a:p>
        </p:txBody>
      </p:sp>
      <p:sp>
        <p:nvSpPr>
          <p:cNvPr id="15" name="Text 13"/>
          <p:cNvSpPr/>
          <p:nvPr/>
        </p:nvSpPr>
        <p:spPr>
          <a:xfrm>
            <a:off x="6007608" y="3108960"/>
            <a:ext cx="219456" cy="365760"/>
          </a:xfrm>
          <a:prstGeom prst="rect">
            <a:avLst/>
          </a:prstGeom>
          <a:noFill/>
          <a:ln/>
        </p:spPr>
        <p:txBody>
          <a:bodyPr wrap="square" lIns="0" tIns="0" rIns="0" bIns="0" rtlCol="0" anchor="ctr"/>
          <a:lstStyle/>
          <a:p>
            <a:pPr algn="ctr" indent="0" marL="0">
              <a:buNone/>
            </a:pPr>
            <a:r>
              <a:rPr lang="en-US" sz="2200" b="1" dirty="0">
                <a:solidFill>
                  <a:srgbClr val="A6ADB8"/>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6217920" y="2194560"/>
            <a:ext cx="2560320" cy="2514600"/>
          </a:xfrm>
          <a:prstGeom prst="roundRect">
            <a:avLst>
              <a:gd name="adj" fmla="val 5091"/>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17" name="Shape 15"/>
          <p:cNvSpPr/>
          <p:nvPr/>
        </p:nvSpPr>
        <p:spPr>
          <a:xfrm>
            <a:off x="6492240" y="2487168"/>
            <a:ext cx="475488" cy="475488"/>
          </a:xfrm>
          <a:prstGeom prst="ellipse">
            <a:avLst/>
          </a:prstGeom>
          <a:solidFill>
            <a:srgbClr val="2F5FFF"/>
          </a:solidFill>
          <a:ln w="12700">
            <a:solidFill>
              <a:srgbClr val="2F5FFF"/>
            </a:solidFill>
            <a:prstDash val="solid"/>
          </a:ln>
        </p:spPr>
      </p:sp>
      <p:sp>
        <p:nvSpPr>
          <p:cNvPr id="18" name="Text 16"/>
          <p:cNvSpPr/>
          <p:nvPr/>
        </p:nvSpPr>
        <p:spPr>
          <a:xfrm>
            <a:off x="6492240" y="248716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6492240" y="3127248"/>
            <a:ext cx="2103120" cy="292608"/>
          </a:xfrm>
          <a:prstGeom prst="rect">
            <a:avLst/>
          </a:prstGeom>
          <a:noFill/>
          <a:ln/>
        </p:spPr>
        <p:txBody>
          <a:bodyPr wrap="square" lIns="0" tIns="0" rIns="0" bIns="0" rtlCol="0" anchor="ctr"/>
          <a:lstStyle/>
          <a:p>
            <a:pPr indent="0" marL="0">
              <a:buNone/>
            </a:pPr>
            <a:r>
              <a:rPr lang="en-US" sz="1700" b="1" dirty="0">
                <a:solidFill>
                  <a:srgbClr val="0F1B3D"/>
                </a:solidFill>
                <a:latin typeface="Calibri" pitchFamily="34" charset="0"/>
                <a:ea typeface="Calibri" pitchFamily="34" charset="-122"/>
                <a:cs typeface="Calibri" pitchFamily="34" charset="-120"/>
              </a:rPr>
              <a:t>Structure</a:t>
            </a:r>
            <a:endParaRPr lang="en-US" sz="1700" dirty="0"/>
          </a:p>
        </p:txBody>
      </p:sp>
      <p:sp>
        <p:nvSpPr>
          <p:cNvPr id="20" name="Text 18"/>
          <p:cNvSpPr/>
          <p:nvPr/>
        </p:nvSpPr>
        <p:spPr>
          <a:xfrm>
            <a:off x="6492240" y="3474720"/>
            <a:ext cx="2057400" cy="109728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Name, trade, employers, durations, skills, tools and achievements — extracted into fields.</a:t>
            </a:r>
            <a:endParaRPr lang="en-US" sz="1250" dirty="0"/>
          </a:p>
        </p:txBody>
      </p:sp>
      <p:sp>
        <p:nvSpPr>
          <p:cNvPr id="21" name="Text 19"/>
          <p:cNvSpPr/>
          <p:nvPr/>
        </p:nvSpPr>
        <p:spPr>
          <a:xfrm>
            <a:off x="8796528" y="3108960"/>
            <a:ext cx="219456" cy="365760"/>
          </a:xfrm>
          <a:prstGeom prst="rect">
            <a:avLst/>
          </a:prstGeom>
          <a:noFill/>
          <a:ln/>
        </p:spPr>
        <p:txBody>
          <a:bodyPr wrap="square" lIns="0" tIns="0" rIns="0" bIns="0" rtlCol="0" anchor="ctr"/>
          <a:lstStyle/>
          <a:p>
            <a:pPr algn="ctr" indent="0" marL="0">
              <a:buNone/>
            </a:pPr>
            <a:r>
              <a:rPr lang="en-US" sz="2200" b="1" dirty="0">
                <a:solidFill>
                  <a:srgbClr val="A6ADB8"/>
                </a:solidFill>
                <a:latin typeface="Calibri" pitchFamily="34" charset="0"/>
                <a:ea typeface="Calibri" pitchFamily="34" charset="-122"/>
                <a:cs typeface="Calibri" pitchFamily="34" charset="-120"/>
              </a:rPr>
              <a:t>›</a:t>
            </a:r>
            <a:endParaRPr lang="en-US" sz="2200" dirty="0"/>
          </a:p>
        </p:txBody>
      </p:sp>
      <p:sp>
        <p:nvSpPr>
          <p:cNvPr id="22" name="Shape 20"/>
          <p:cNvSpPr/>
          <p:nvPr/>
        </p:nvSpPr>
        <p:spPr>
          <a:xfrm>
            <a:off x="9006840" y="2194560"/>
            <a:ext cx="2560320" cy="2514600"/>
          </a:xfrm>
          <a:prstGeom prst="roundRect">
            <a:avLst>
              <a:gd name="adj" fmla="val 5091"/>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23" name="Shape 21"/>
          <p:cNvSpPr/>
          <p:nvPr/>
        </p:nvSpPr>
        <p:spPr>
          <a:xfrm>
            <a:off x="9281160" y="2487168"/>
            <a:ext cx="475488" cy="475488"/>
          </a:xfrm>
          <a:prstGeom prst="ellipse">
            <a:avLst/>
          </a:prstGeom>
          <a:solidFill>
            <a:srgbClr val="16C89A"/>
          </a:solidFill>
          <a:ln w="12700">
            <a:solidFill>
              <a:srgbClr val="16C89A"/>
            </a:solidFill>
            <a:prstDash val="solid"/>
          </a:ln>
        </p:spPr>
      </p:sp>
      <p:sp>
        <p:nvSpPr>
          <p:cNvPr id="24" name="Text 22"/>
          <p:cNvSpPr/>
          <p:nvPr/>
        </p:nvSpPr>
        <p:spPr>
          <a:xfrm>
            <a:off x="9281160" y="2487168"/>
            <a:ext cx="475488" cy="475488"/>
          </a:xfrm>
          <a:prstGeom prst="rect">
            <a:avLst/>
          </a:prstGeom>
          <a:noFill/>
          <a:ln/>
        </p:spPr>
        <p:txBody>
          <a:bodyPr wrap="square" lIns="0" tIns="0" rIns="0" bIns="0" rtlCol="0" anchor="ctr"/>
          <a:lstStyle/>
          <a:p>
            <a:pPr algn="ctr" indent="0" marL="0">
              <a:buNone/>
            </a:pPr>
            <a:r>
              <a:rPr lang="en-US" sz="1400" b="1" dirty="0">
                <a:solidFill>
                  <a:srgbClr val="0F1B3D"/>
                </a:solidFill>
                <a:latin typeface="Calibri" pitchFamily="34" charset="0"/>
                <a:ea typeface="Calibri" pitchFamily="34" charset="-122"/>
                <a:cs typeface="Calibri" pitchFamily="34" charset="-120"/>
              </a:rPr>
              <a:t>4</a:t>
            </a:r>
            <a:endParaRPr lang="en-US" sz="1400" dirty="0"/>
          </a:p>
        </p:txBody>
      </p:sp>
      <p:sp>
        <p:nvSpPr>
          <p:cNvPr id="25" name="Text 23"/>
          <p:cNvSpPr/>
          <p:nvPr/>
        </p:nvSpPr>
        <p:spPr>
          <a:xfrm>
            <a:off x="9281160" y="3127248"/>
            <a:ext cx="2103120" cy="292608"/>
          </a:xfrm>
          <a:prstGeom prst="rect">
            <a:avLst/>
          </a:prstGeom>
          <a:noFill/>
          <a:ln/>
        </p:spPr>
        <p:txBody>
          <a:bodyPr wrap="square" lIns="0" tIns="0" rIns="0" bIns="0" rtlCol="0" anchor="ctr"/>
          <a:lstStyle/>
          <a:p>
            <a:pPr indent="0" marL="0">
              <a:buNone/>
            </a:pPr>
            <a:r>
              <a:rPr lang="en-US" sz="1700" b="1" dirty="0">
                <a:solidFill>
                  <a:srgbClr val="0F1B3D"/>
                </a:solidFill>
                <a:latin typeface="Calibri" pitchFamily="34" charset="0"/>
                <a:ea typeface="Calibri" pitchFamily="34" charset="-122"/>
                <a:cs typeface="Calibri" pitchFamily="34" charset="-120"/>
              </a:rPr>
              <a:t>Deliver</a:t>
            </a:r>
            <a:endParaRPr lang="en-US" sz="1700" dirty="0"/>
          </a:p>
        </p:txBody>
      </p:sp>
      <p:sp>
        <p:nvSpPr>
          <p:cNvPr id="26" name="Text 24"/>
          <p:cNvSpPr/>
          <p:nvPr/>
        </p:nvSpPr>
        <p:spPr>
          <a:xfrm>
            <a:off x="9281160" y="3474720"/>
            <a:ext cx="2057400" cy="109728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A bilingual PDF CV to the worker; a searchable profile to you.</a:t>
            </a:r>
            <a:endParaRPr lang="en-US" sz="1250" dirty="0"/>
          </a:p>
        </p:txBody>
      </p:sp>
      <p:sp>
        <p:nvSpPr>
          <p:cNvPr id="27" name="Text 25"/>
          <p:cNvSpPr/>
          <p:nvPr/>
        </p:nvSpPr>
        <p:spPr>
          <a:xfrm>
            <a:off x="640080" y="5029200"/>
            <a:ext cx="10515600" cy="365760"/>
          </a:xfrm>
          <a:prstGeom prst="rect">
            <a:avLst/>
          </a:prstGeom>
          <a:noFill/>
          <a:ln/>
        </p:spPr>
        <p:txBody>
          <a:bodyPr wrap="square" lIns="0" tIns="0" rIns="0" bIns="0" rtlCol="0" anchor="ctr"/>
          <a:lstStyle/>
          <a:p>
            <a:pPr indent="0" marL="0">
              <a:buNone/>
            </a:pPr>
            <a:r>
              <a:rPr lang="en-US" sz="1400" i="1" dirty="0">
                <a:solidFill>
                  <a:srgbClr val="5B6472"/>
                </a:solidFill>
                <a:latin typeface="Calibri" pitchFamily="34" charset="0"/>
                <a:ea typeface="Calibri" pitchFamily="34" charset="-122"/>
                <a:cs typeface="Calibri" pitchFamily="34" charset="-120"/>
              </a:rPr>
              <a:t>Median interaction: a few minutes of speaking, spread over a normal WhatsApp thread.</a:t>
            </a:r>
            <a:endParaRPr lang="en-US" sz="1400" dirty="0"/>
          </a:p>
        </p:txBody>
      </p:sp>
      <p:sp>
        <p:nvSpPr>
          <p:cNvPr id="28" name="Text 26"/>
          <p:cNvSpPr/>
          <p:nvPr/>
        </p:nvSpPr>
        <p:spPr>
          <a:xfrm>
            <a:off x="640080" y="6400800"/>
            <a:ext cx="1828800" cy="228600"/>
          </a:xfrm>
          <a:prstGeom prst="rect">
            <a:avLst/>
          </a:prstGeom>
          <a:noFill/>
          <a:ln/>
        </p:spPr>
        <p:txBody>
          <a:bodyPr wrap="square" lIns="0" tIns="0" rIns="0" bIns="0" rtlCol="0" anchor="ctr"/>
          <a:lstStyle/>
          <a:p>
            <a:pPr indent="0" marL="0">
              <a:buNone/>
            </a:pPr>
            <a:r>
              <a:rPr lang="en-US" sz="900" dirty="0">
                <a:solidFill>
                  <a:srgbClr val="A6ADB8"/>
                </a:solidFill>
                <a:latin typeface="Calibri" pitchFamily="34" charset="0"/>
                <a:ea typeface="Calibri" pitchFamily="34" charset="-122"/>
                <a:cs typeface="Calibri" pitchFamily="34" charset="-120"/>
              </a:rPr>
              <a:t>Naatiq</a:t>
            </a:r>
            <a:endParaRPr lang="en-US" sz="900" dirty="0"/>
          </a:p>
        </p:txBody>
      </p:sp>
      <p:sp>
        <p:nvSpPr>
          <p:cNvPr id="29" name="Text 27"/>
          <p:cNvSpPr/>
          <p:nvPr/>
        </p:nvSpPr>
        <p:spPr>
          <a:xfrm>
            <a:off x="10607040" y="6400800"/>
            <a:ext cx="914400" cy="228600"/>
          </a:xfrm>
          <a:prstGeom prst="rect">
            <a:avLst/>
          </a:prstGeom>
          <a:noFill/>
          <a:ln/>
        </p:spPr>
        <p:txBody>
          <a:bodyPr wrap="square" lIns="0" tIns="0" rIns="0" bIns="0" rtlCol="0" anchor="ctr"/>
          <a:lstStyle/>
          <a:p>
            <a:pPr algn="r" indent="0" marL="0">
              <a:buNone/>
            </a:pPr>
            <a:r>
              <a:rPr lang="en-US" sz="900" dirty="0">
                <a:solidFill>
                  <a:srgbClr val="A6ADB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F5FFF"/>
                </a:solidFill>
                <a:latin typeface="Calibri" pitchFamily="34" charset="0"/>
                <a:ea typeface="Calibri" pitchFamily="34" charset="-122"/>
                <a:cs typeface="Calibri" pitchFamily="34" charset="-120"/>
              </a:rPr>
              <a:t>PROOF</a:t>
            </a:r>
            <a:endParaRPr lang="en-US" sz="1100" dirty="0"/>
          </a:p>
        </p:txBody>
      </p:sp>
      <p:sp>
        <p:nvSpPr>
          <p:cNvPr id="3" name="Text 1"/>
          <p:cNvSpPr/>
          <p:nvPr/>
        </p:nvSpPr>
        <p:spPr>
          <a:xfrm>
            <a:off x="640080" y="658368"/>
            <a:ext cx="10881360" cy="658368"/>
          </a:xfrm>
          <a:prstGeom prst="rect">
            <a:avLst/>
          </a:prstGeom>
          <a:noFill/>
          <a:ln/>
        </p:spPr>
        <p:txBody>
          <a:bodyPr wrap="square" lIns="0" tIns="0" rIns="0" bIns="0" rtlCol="0" anchor="ctr"/>
          <a:lstStyle/>
          <a:p>
            <a:pPr indent="0" marL="0">
              <a:buNone/>
            </a:pPr>
            <a:r>
              <a:rPr lang="en-US" sz="3400" b="1" dirty="0">
                <a:solidFill>
                  <a:srgbClr val="0F1B3D"/>
                </a:solidFill>
                <a:latin typeface="Calibri" pitchFamily="34" charset="0"/>
                <a:ea typeface="Calibri" pitchFamily="34" charset="-122"/>
                <a:cs typeface="Calibri" pitchFamily="34" charset="-120"/>
              </a:rPr>
              <a:t>It works end to end — with a real person, on a real phone</a:t>
            </a:r>
            <a:endParaRPr lang="en-US" sz="3400" dirty="0"/>
          </a:p>
        </p:txBody>
      </p:sp>
      <p:sp>
        <p:nvSpPr>
          <p:cNvPr id="4" name="Shape 2"/>
          <p:cNvSpPr/>
          <p:nvPr/>
        </p:nvSpPr>
        <p:spPr>
          <a:xfrm>
            <a:off x="640080" y="2103120"/>
            <a:ext cx="6583680" cy="3017520"/>
          </a:xfrm>
          <a:prstGeom prst="roundRect">
            <a:avLst>
              <a:gd name="adj" fmla="val 4242"/>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5" name="Text 3"/>
          <p:cNvSpPr/>
          <p:nvPr/>
        </p:nvSpPr>
        <p:spPr>
          <a:xfrm>
            <a:off x="1005840" y="2377440"/>
            <a:ext cx="4572000" cy="292608"/>
          </a:xfrm>
          <a:prstGeom prst="rect">
            <a:avLst/>
          </a:prstGeom>
          <a:noFill/>
          <a:ln/>
        </p:spPr>
        <p:txBody>
          <a:bodyPr wrap="square" lIns="0" tIns="0" rIns="0" bIns="0" rtlCol="0" anchor="ctr"/>
          <a:lstStyle/>
          <a:p>
            <a:pPr indent="0" marL="0">
              <a:buNone/>
            </a:pPr>
            <a:r>
              <a:rPr lang="en-US" sz="1600" b="1" dirty="0">
                <a:solidFill>
                  <a:srgbClr val="0F1B3D"/>
                </a:solidFill>
                <a:latin typeface="Calibri" pitchFamily="34" charset="0"/>
                <a:ea typeface="Calibri" pitchFamily="34" charset="-122"/>
                <a:cs typeface="Calibri" pitchFamily="34" charset="-120"/>
              </a:rPr>
              <a:t>A validated run</a:t>
            </a:r>
            <a:endParaRPr lang="en-US" sz="1600" dirty="0"/>
          </a:p>
        </p:txBody>
      </p:sp>
      <p:sp>
        <p:nvSpPr>
          <p:cNvPr id="6" name="Text 4"/>
          <p:cNvSpPr/>
          <p:nvPr/>
        </p:nvSpPr>
        <p:spPr>
          <a:xfrm>
            <a:off x="1005840" y="2788920"/>
            <a:ext cx="5852160" cy="210312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5B6472"/>
                </a:solidFill>
                <a:latin typeface="Calibri" pitchFamily="34" charset="0"/>
                <a:ea typeface="Calibri" pitchFamily="34" charset="-122"/>
                <a:cs typeface="Calibri" pitchFamily="34" charset="-120"/>
              </a:rPr>
              <a:t>A voice note in Jordanian dialect, transcribed correctly</a:t>
            </a:r>
            <a:endParaRPr lang="en-US" sz="1300" dirty="0"/>
          </a:p>
          <a:p>
            <a:pPr marL="342900" indent="-342900">
              <a:spcAft>
                <a:spcPts val="700"/>
              </a:spcAft>
              <a:buSzPct val="100000"/>
              <a:buChar char="•"/>
            </a:pPr>
            <a:r>
              <a:rPr lang="en-US" sz="1300" dirty="0">
                <a:solidFill>
                  <a:srgbClr val="5B6472"/>
                </a:solidFill>
                <a:latin typeface="Calibri" pitchFamily="34" charset="0"/>
                <a:ea typeface="Calibri" pitchFamily="34" charset="-122"/>
                <a:cs typeface="Calibri" pitchFamily="34" charset="-120"/>
              </a:rPr>
              <a:t>Twelve messages of conversation, one question at a time</a:t>
            </a:r>
            <a:endParaRPr lang="en-US" sz="1300" dirty="0"/>
          </a:p>
          <a:p>
            <a:pPr marL="342900" indent="-342900">
              <a:spcAft>
                <a:spcPts val="700"/>
              </a:spcAft>
              <a:buSzPct val="100000"/>
              <a:buChar char="•"/>
            </a:pPr>
            <a:r>
              <a:rPr lang="en-US" sz="1300" dirty="0">
                <a:solidFill>
                  <a:srgbClr val="5B6472"/>
                </a:solidFill>
                <a:latin typeface="Calibri" pitchFamily="34" charset="0"/>
                <a:ea typeface="Calibri" pitchFamily="34" charset="-122"/>
                <a:cs typeface="Calibri" pitchFamily="34" charset="-120"/>
              </a:rPr>
              <a:t>Extracted: private driver, three employers, defensive driving and passenger safety, plus a specific achievement</a:t>
            </a:r>
            <a:endParaRPr lang="en-US" sz="1300" dirty="0"/>
          </a:p>
          <a:p>
            <a:pPr marL="342900" indent="-342900">
              <a:spcAft>
                <a:spcPts val="700"/>
              </a:spcAft>
              <a:buSzPct val="100000"/>
              <a:buChar char="•"/>
            </a:pPr>
            <a:r>
              <a:rPr lang="en-US" sz="1300" dirty="0">
                <a:solidFill>
                  <a:srgbClr val="5B6472"/>
                </a:solidFill>
                <a:latin typeface="Calibri" pitchFamily="34" charset="0"/>
                <a:ea typeface="Calibri" pitchFamily="34" charset="-122"/>
                <a:cs typeface="Calibri" pitchFamily="34" charset="-120"/>
              </a:rPr>
              <a:t>Correctly inferred fifteen years of experience across three companies</a:t>
            </a:r>
            <a:endParaRPr lang="en-US" sz="1300" dirty="0"/>
          </a:p>
          <a:p>
            <a:pPr marL="342900" indent="-342900">
              <a:spcAft>
                <a:spcPts val="700"/>
              </a:spcAft>
              <a:buSzPct val="100000"/>
              <a:buChar char="•"/>
            </a:pPr>
            <a:r>
              <a:rPr lang="en-US" sz="1300" dirty="0">
                <a:solidFill>
                  <a:srgbClr val="5B6472"/>
                </a:solidFill>
                <a:latin typeface="Calibri" pitchFamily="34" charset="0"/>
                <a:ea typeface="Calibri" pitchFamily="34" charset="-122"/>
                <a:cs typeface="Calibri" pitchFamily="34" charset="-120"/>
              </a:rPr>
              <a:t>Bilingual PDF delivered back on WhatsApp in minutes</a:t>
            </a:r>
            <a:endParaRPr lang="en-US" sz="1300" dirty="0"/>
          </a:p>
        </p:txBody>
      </p:sp>
      <p:sp>
        <p:nvSpPr>
          <p:cNvPr id="7" name="Shape 5"/>
          <p:cNvSpPr/>
          <p:nvPr/>
        </p:nvSpPr>
        <p:spPr>
          <a:xfrm>
            <a:off x="7589520" y="2103120"/>
            <a:ext cx="3566160" cy="3017520"/>
          </a:xfrm>
          <a:prstGeom prst="roundRect">
            <a:avLst>
              <a:gd name="adj" fmla="val 4242"/>
            </a:avLst>
          </a:prstGeom>
          <a:solidFill>
            <a:srgbClr val="0F1B3D"/>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8" name="Text 6"/>
          <p:cNvSpPr/>
          <p:nvPr/>
        </p:nvSpPr>
        <p:spPr>
          <a:xfrm>
            <a:off x="7863840" y="2514600"/>
            <a:ext cx="3017520" cy="73152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Nothing was invented.</a:t>
            </a:r>
            <a:endParaRPr lang="en-US" sz="2100" dirty="0"/>
          </a:p>
        </p:txBody>
      </p:sp>
      <p:sp>
        <p:nvSpPr>
          <p:cNvPr id="9" name="Text 7"/>
          <p:cNvSpPr/>
          <p:nvPr/>
        </p:nvSpPr>
        <p:spPr>
          <a:xfrm>
            <a:off x="7863840" y="3291840"/>
            <a:ext cx="3017520" cy="1645920"/>
          </a:xfrm>
          <a:prstGeom prst="rect">
            <a:avLst/>
          </a:prstGeom>
          <a:noFill/>
          <a:ln/>
        </p:spPr>
        <p:txBody>
          <a:bodyPr wrap="square" lIns="0" tIns="0" rIns="0" bIns="0" rtlCol="0" anchor="ctr"/>
          <a:lstStyle/>
          <a:p>
            <a:pPr indent="0" marL="0">
              <a:buNone/>
            </a:pPr>
            <a:r>
              <a:rPr lang="en-US" sz="1250" dirty="0">
                <a:solidFill>
                  <a:srgbClr val="BFCCE5"/>
                </a:solidFill>
                <a:latin typeface="Calibri" pitchFamily="34" charset="0"/>
                <a:ea typeface="Calibri" pitchFamily="34" charset="-122"/>
                <a:cs typeface="Calibri" pitchFamily="34" charset="-120"/>
              </a:rPr>
              <a:t>Every line of the CV traces back to something the worker actually said. The CV writer is explicitly forbidden from adding employers, dates or skills, and falls back to the raw interview if the model omits a field.</a:t>
            </a:r>
            <a:endParaRPr lang="en-US" sz="1250" dirty="0"/>
          </a:p>
        </p:txBody>
      </p:sp>
      <p:sp>
        <p:nvSpPr>
          <p:cNvPr id="10" name="Text 8"/>
          <p:cNvSpPr/>
          <p:nvPr/>
        </p:nvSpPr>
        <p:spPr>
          <a:xfrm>
            <a:off x="640080" y="5349240"/>
            <a:ext cx="10515600" cy="320040"/>
          </a:xfrm>
          <a:prstGeom prst="rect">
            <a:avLst/>
          </a:prstGeom>
          <a:noFill/>
          <a:ln/>
        </p:spPr>
        <p:txBody>
          <a:bodyPr wrap="square" lIns="0" tIns="0" rIns="0" bIns="0" rtlCol="0" anchor="ctr"/>
          <a:lstStyle/>
          <a:p>
            <a:pPr indent="0" marL="0">
              <a:buNone/>
            </a:pPr>
            <a:r>
              <a:rPr lang="en-US" sz="1250" i="1" dirty="0">
                <a:solidFill>
                  <a:srgbClr val="5B6472"/>
                </a:solidFill>
                <a:latin typeface="Calibri" pitchFamily="34" charset="0"/>
                <a:ea typeface="Calibri" pitchFamily="34" charset="-122"/>
                <a:cs typeface="Calibri" pitchFamily="34" charset="-120"/>
              </a:rPr>
              <a:t>Status: validated at pilot scale. Not yet load-tested or proven across all dialects.</a:t>
            </a:r>
            <a:endParaRPr lang="en-US" sz="1250" dirty="0"/>
          </a:p>
        </p:txBody>
      </p:sp>
      <p:sp>
        <p:nvSpPr>
          <p:cNvPr id="11" name="Text 9"/>
          <p:cNvSpPr/>
          <p:nvPr/>
        </p:nvSpPr>
        <p:spPr>
          <a:xfrm>
            <a:off x="640080" y="6400800"/>
            <a:ext cx="1828800" cy="228600"/>
          </a:xfrm>
          <a:prstGeom prst="rect">
            <a:avLst/>
          </a:prstGeom>
          <a:noFill/>
          <a:ln/>
        </p:spPr>
        <p:txBody>
          <a:bodyPr wrap="square" lIns="0" tIns="0" rIns="0" bIns="0" rtlCol="0" anchor="ctr"/>
          <a:lstStyle/>
          <a:p>
            <a:pPr indent="0" marL="0">
              <a:buNone/>
            </a:pPr>
            <a:r>
              <a:rPr lang="en-US" sz="900" dirty="0">
                <a:solidFill>
                  <a:srgbClr val="A6ADB8"/>
                </a:solidFill>
                <a:latin typeface="Calibri" pitchFamily="34" charset="0"/>
                <a:ea typeface="Calibri" pitchFamily="34" charset="-122"/>
                <a:cs typeface="Calibri" pitchFamily="34" charset="-120"/>
              </a:rPr>
              <a:t>Naatiq</a:t>
            </a:r>
            <a:endParaRPr lang="en-US" sz="900" dirty="0"/>
          </a:p>
        </p:txBody>
      </p:sp>
      <p:sp>
        <p:nvSpPr>
          <p:cNvPr id="12" name="Text 10"/>
          <p:cNvSpPr/>
          <p:nvPr/>
        </p:nvSpPr>
        <p:spPr>
          <a:xfrm>
            <a:off x="10607040" y="6400800"/>
            <a:ext cx="914400" cy="228600"/>
          </a:xfrm>
          <a:prstGeom prst="rect">
            <a:avLst/>
          </a:prstGeom>
          <a:noFill/>
          <a:ln/>
        </p:spPr>
        <p:txBody>
          <a:bodyPr wrap="square" lIns="0" tIns="0" rIns="0" bIns="0" rtlCol="0" anchor="ctr"/>
          <a:lstStyle/>
          <a:p>
            <a:pPr algn="r" indent="0" marL="0">
              <a:buNone/>
            </a:pPr>
            <a:r>
              <a:rPr lang="en-US" sz="900" dirty="0">
                <a:solidFill>
                  <a:srgbClr val="A6ADB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F5FFF"/>
                </a:solidFill>
                <a:latin typeface="Calibri" pitchFamily="34" charset="0"/>
                <a:ea typeface="Calibri" pitchFamily="34" charset="-122"/>
                <a:cs typeface="Calibri" pitchFamily="34" charset="-120"/>
              </a:rPr>
              <a:t>THE ASSET</a:t>
            </a:r>
            <a:endParaRPr lang="en-US" sz="1100" dirty="0"/>
          </a:p>
        </p:txBody>
      </p:sp>
      <p:sp>
        <p:nvSpPr>
          <p:cNvPr id="3" name="Text 1"/>
          <p:cNvSpPr/>
          <p:nvPr/>
        </p:nvSpPr>
        <p:spPr>
          <a:xfrm>
            <a:off x="640080" y="658368"/>
            <a:ext cx="10881360" cy="658368"/>
          </a:xfrm>
          <a:prstGeom prst="rect">
            <a:avLst/>
          </a:prstGeom>
          <a:noFill/>
          <a:ln/>
        </p:spPr>
        <p:txBody>
          <a:bodyPr wrap="square" lIns="0" tIns="0" rIns="0" bIns="0" rtlCol="0" anchor="ctr"/>
          <a:lstStyle/>
          <a:p>
            <a:pPr indent="0" marL="0">
              <a:buNone/>
            </a:pPr>
            <a:r>
              <a:rPr lang="en-US" sz="3400" b="1" dirty="0">
                <a:solidFill>
                  <a:srgbClr val="0F1B3D"/>
                </a:solidFill>
                <a:latin typeface="Calibri" pitchFamily="34" charset="0"/>
                <a:ea typeface="Calibri" pitchFamily="34" charset="-122"/>
                <a:cs typeface="Calibri" pitchFamily="34" charset="-120"/>
              </a:rPr>
              <a:t>What you get: a structured, searchable talent pool</a:t>
            </a:r>
            <a:endParaRPr lang="en-US" sz="3400" dirty="0"/>
          </a:p>
        </p:txBody>
      </p:sp>
      <p:sp>
        <p:nvSpPr>
          <p:cNvPr id="4" name="Text 2"/>
          <p:cNvSpPr/>
          <p:nvPr/>
        </p:nvSpPr>
        <p:spPr>
          <a:xfrm>
            <a:off x="640080" y="1335024"/>
            <a:ext cx="10332720" cy="457200"/>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Every conversation becomes a record you can filter, shortlist and compare.</a:t>
            </a:r>
            <a:endParaRPr lang="en-US" sz="1500" dirty="0"/>
          </a:p>
        </p:txBody>
      </p:sp>
      <p:sp>
        <p:nvSpPr>
          <p:cNvPr id="5" name="Shape 3"/>
          <p:cNvSpPr/>
          <p:nvPr/>
        </p:nvSpPr>
        <p:spPr>
          <a:xfrm>
            <a:off x="640080" y="2240280"/>
            <a:ext cx="3429000" cy="841248"/>
          </a:xfrm>
          <a:prstGeom prst="roundRect">
            <a:avLst>
              <a:gd name="adj" fmla="val 15217"/>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6" name="Shape 4"/>
          <p:cNvSpPr/>
          <p:nvPr/>
        </p:nvSpPr>
        <p:spPr>
          <a:xfrm>
            <a:off x="877824" y="2459736"/>
            <a:ext cx="402336" cy="402336"/>
          </a:xfrm>
          <a:prstGeom prst="ellipse">
            <a:avLst/>
          </a:prstGeom>
          <a:solidFill>
            <a:srgbClr val="16C89A"/>
          </a:solidFill>
          <a:ln w="12700">
            <a:solidFill>
              <a:srgbClr val="16C89A"/>
            </a:solidFill>
            <a:prstDash val="solid"/>
          </a:ln>
        </p:spPr>
      </p:sp>
      <p:sp>
        <p:nvSpPr>
          <p:cNvPr id="7" name="Text 5"/>
          <p:cNvSpPr/>
          <p:nvPr/>
        </p:nvSpPr>
        <p:spPr>
          <a:xfrm>
            <a:off x="877824" y="2459736"/>
            <a:ext cx="402336" cy="402336"/>
          </a:xfrm>
          <a:prstGeom prst="rect">
            <a:avLst/>
          </a:prstGeom>
          <a:noFill/>
          <a:ln/>
        </p:spPr>
        <p:txBody>
          <a:bodyPr wrap="square" lIns="0" tIns="0" rIns="0" bIns="0" rtlCol="0" anchor="ctr"/>
          <a:lstStyle/>
          <a:p>
            <a:pPr algn="ctr" indent="0" marL="0">
              <a:buNone/>
            </a:pPr>
            <a:r>
              <a:rPr lang="en-US" sz="1400" b="1" dirty="0">
                <a:solidFill>
                  <a:srgbClr val="0F1B3D"/>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444752" y="2423160"/>
            <a:ext cx="2468880" cy="502920"/>
          </a:xfrm>
          <a:prstGeom prst="rect">
            <a:avLst/>
          </a:prstGeom>
          <a:noFill/>
          <a:ln/>
        </p:spPr>
        <p:txBody>
          <a:bodyPr wrap="square" lIns="0" tIns="0" rIns="0" bIns="0" rtlCol="0" anchor="ctr"/>
          <a:lstStyle/>
          <a:p>
            <a:pPr indent="0" marL="0">
              <a:buNone/>
            </a:pPr>
            <a:r>
              <a:rPr lang="en-US" sz="1300" b="1" dirty="0">
                <a:solidFill>
                  <a:srgbClr val="0F1B3D"/>
                </a:solidFill>
                <a:latin typeface="Calibri" pitchFamily="34" charset="0"/>
                <a:ea typeface="Calibri" pitchFamily="34" charset="-122"/>
                <a:cs typeface="Calibri" pitchFamily="34" charset="-120"/>
              </a:rPr>
              <a:t>Occupation, normalised</a:t>
            </a:r>
            <a:endParaRPr lang="en-US" sz="1300" dirty="0"/>
          </a:p>
        </p:txBody>
      </p:sp>
      <p:sp>
        <p:nvSpPr>
          <p:cNvPr id="9" name="Shape 7"/>
          <p:cNvSpPr/>
          <p:nvPr/>
        </p:nvSpPr>
        <p:spPr>
          <a:xfrm>
            <a:off x="4343400" y="2240280"/>
            <a:ext cx="3429000" cy="841248"/>
          </a:xfrm>
          <a:prstGeom prst="roundRect">
            <a:avLst>
              <a:gd name="adj" fmla="val 15217"/>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10" name="Shape 8"/>
          <p:cNvSpPr/>
          <p:nvPr/>
        </p:nvSpPr>
        <p:spPr>
          <a:xfrm>
            <a:off x="4581144" y="2459736"/>
            <a:ext cx="402336" cy="402336"/>
          </a:xfrm>
          <a:prstGeom prst="ellipse">
            <a:avLst/>
          </a:prstGeom>
          <a:solidFill>
            <a:srgbClr val="16C89A"/>
          </a:solidFill>
          <a:ln w="12700">
            <a:solidFill>
              <a:srgbClr val="16C89A"/>
            </a:solidFill>
            <a:prstDash val="solid"/>
          </a:ln>
        </p:spPr>
      </p:sp>
      <p:sp>
        <p:nvSpPr>
          <p:cNvPr id="11" name="Text 9"/>
          <p:cNvSpPr/>
          <p:nvPr/>
        </p:nvSpPr>
        <p:spPr>
          <a:xfrm>
            <a:off x="4581144" y="2459736"/>
            <a:ext cx="402336" cy="402336"/>
          </a:xfrm>
          <a:prstGeom prst="rect">
            <a:avLst/>
          </a:prstGeom>
          <a:noFill/>
          <a:ln/>
        </p:spPr>
        <p:txBody>
          <a:bodyPr wrap="square" lIns="0" tIns="0" rIns="0" bIns="0" rtlCol="0" anchor="ctr"/>
          <a:lstStyle/>
          <a:p>
            <a:pPr algn="ctr" indent="0" marL="0">
              <a:buNone/>
            </a:pPr>
            <a:r>
              <a:rPr lang="en-US" sz="1400" b="1" dirty="0">
                <a:solidFill>
                  <a:srgbClr val="0F1B3D"/>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5148072" y="2423160"/>
            <a:ext cx="2468880" cy="502920"/>
          </a:xfrm>
          <a:prstGeom prst="rect">
            <a:avLst/>
          </a:prstGeom>
          <a:noFill/>
          <a:ln/>
        </p:spPr>
        <p:txBody>
          <a:bodyPr wrap="square" lIns="0" tIns="0" rIns="0" bIns="0" rtlCol="0" anchor="ctr"/>
          <a:lstStyle/>
          <a:p>
            <a:pPr indent="0" marL="0">
              <a:buNone/>
            </a:pPr>
            <a:r>
              <a:rPr lang="en-US" sz="1300" b="1" dirty="0">
                <a:solidFill>
                  <a:srgbClr val="0F1B3D"/>
                </a:solidFill>
                <a:latin typeface="Calibri" pitchFamily="34" charset="0"/>
                <a:ea typeface="Calibri" pitchFamily="34" charset="-122"/>
                <a:cs typeface="Calibri" pitchFamily="34" charset="-120"/>
              </a:rPr>
              <a:t>Years of experience</a:t>
            </a:r>
            <a:endParaRPr lang="en-US" sz="1300" dirty="0"/>
          </a:p>
        </p:txBody>
      </p:sp>
      <p:sp>
        <p:nvSpPr>
          <p:cNvPr id="13" name="Shape 11"/>
          <p:cNvSpPr/>
          <p:nvPr/>
        </p:nvSpPr>
        <p:spPr>
          <a:xfrm>
            <a:off x="8046720" y="2240280"/>
            <a:ext cx="3429000" cy="841248"/>
          </a:xfrm>
          <a:prstGeom prst="roundRect">
            <a:avLst>
              <a:gd name="adj" fmla="val 15217"/>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14" name="Shape 12"/>
          <p:cNvSpPr/>
          <p:nvPr/>
        </p:nvSpPr>
        <p:spPr>
          <a:xfrm>
            <a:off x="8284464" y="2459736"/>
            <a:ext cx="402336" cy="402336"/>
          </a:xfrm>
          <a:prstGeom prst="ellipse">
            <a:avLst/>
          </a:prstGeom>
          <a:solidFill>
            <a:srgbClr val="16C89A"/>
          </a:solidFill>
          <a:ln w="12700">
            <a:solidFill>
              <a:srgbClr val="16C89A"/>
            </a:solidFill>
            <a:prstDash val="solid"/>
          </a:ln>
        </p:spPr>
      </p:sp>
      <p:sp>
        <p:nvSpPr>
          <p:cNvPr id="15" name="Text 13"/>
          <p:cNvSpPr/>
          <p:nvPr/>
        </p:nvSpPr>
        <p:spPr>
          <a:xfrm>
            <a:off x="8284464" y="2459736"/>
            <a:ext cx="402336" cy="402336"/>
          </a:xfrm>
          <a:prstGeom prst="rect">
            <a:avLst/>
          </a:prstGeom>
          <a:noFill/>
          <a:ln/>
        </p:spPr>
        <p:txBody>
          <a:bodyPr wrap="square" lIns="0" tIns="0" rIns="0" bIns="0" rtlCol="0" anchor="ctr"/>
          <a:lstStyle/>
          <a:p>
            <a:pPr algn="ctr" indent="0" marL="0">
              <a:buNone/>
            </a:pPr>
            <a:r>
              <a:rPr lang="en-US" sz="1400" b="1" dirty="0">
                <a:solidFill>
                  <a:srgbClr val="0F1B3D"/>
                </a:solidFill>
                <a:latin typeface="Calibri" pitchFamily="34" charset="0"/>
                <a:ea typeface="Calibri" pitchFamily="34" charset="-122"/>
                <a:cs typeface="Calibri" pitchFamily="34" charset="-120"/>
              </a:rPr>
              <a:t>✓</a:t>
            </a:r>
            <a:endParaRPr lang="en-US" sz="1400" dirty="0"/>
          </a:p>
        </p:txBody>
      </p:sp>
      <p:sp>
        <p:nvSpPr>
          <p:cNvPr id="16" name="Text 14"/>
          <p:cNvSpPr/>
          <p:nvPr/>
        </p:nvSpPr>
        <p:spPr>
          <a:xfrm>
            <a:off x="8851392" y="2423160"/>
            <a:ext cx="2468880" cy="502920"/>
          </a:xfrm>
          <a:prstGeom prst="rect">
            <a:avLst/>
          </a:prstGeom>
          <a:noFill/>
          <a:ln/>
        </p:spPr>
        <p:txBody>
          <a:bodyPr wrap="square" lIns="0" tIns="0" rIns="0" bIns="0" rtlCol="0" anchor="ctr"/>
          <a:lstStyle/>
          <a:p>
            <a:pPr indent="0" marL="0">
              <a:buNone/>
            </a:pPr>
            <a:r>
              <a:rPr lang="en-US" sz="1300" b="1" dirty="0">
                <a:solidFill>
                  <a:srgbClr val="0F1B3D"/>
                </a:solidFill>
                <a:latin typeface="Calibri" pitchFamily="34" charset="0"/>
                <a:ea typeface="Calibri" pitchFamily="34" charset="-122"/>
                <a:cs typeface="Calibri" pitchFamily="34" charset="-120"/>
              </a:rPr>
              <a:t>Named employers and durations</a:t>
            </a:r>
            <a:endParaRPr lang="en-US" sz="1300" dirty="0"/>
          </a:p>
        </p:txBody>
      </p:sp>
      <p:sp>
        <p:nvSpPr>
          <p:cNvPr id="17" name="Shape 15"/>
          <p:cNvSpPr/>
          <p:nvPr/>
        </p:nvSpPr>
        <p:spPr>
          <a:xfrm>
            <a:off x="640080" y="3291840"/>
            <a:ext cx="3429000" cy="841248"/>
          </a:xfrm>
          <a:prstGeom prst="roundRect">
            <a:avLst>
              <a:gd name="adj" fmla="val 15217"/>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18" name="Shape 16"/>
          <p:cNvSpPr/>
          <p:nvPr/>
        </p:nvSpPr>
        <p:spPr>
          <a:xfrm>
            <a:off x="877824" y="3511296"/>
            <a:ext cx="402336" cy="402336"/>
          </a:xfrm>
          <a:prstGeom prst="ellipse">
            <a:avLst/>
          </a:prstGeom>
          <a:solidFill>
            <a:srgbClr val="16C89A"/>
          </a:solidFill>
          <a:ln w="12700">
            <a:solidFill>
              <a:srgbClr val="16C89A"/>
            </a:solidFill>
            <a:prstDash val="solid"/>
          </a:ln>
        </p:spPr>
      </p:sp>
      <p:sp>
        <p:nvSpPr>
          <p:cNvPr id="19" name="Text 17"/>
          <p:cNvSpPr/>
          <p:nvPr/>
        </p:nvSpPr>
        <p:spPr>
          <a:xfrm>
            <a:off x="877824" y="3511296"/>
            <a:ext cx="402336" cy="402336"/>
          </a:xfrm>
          <a:prstGeom prst="rect">
            <a:avLst/>
          </a:prstGeom>
          <a:noFill/>
          <a:ln/>
        </p:spPr>
        <p:txBody>
          <a:bodyPr wrap="square" lIns="0" tIns="0" rIns="0" bIns="0" rtlCol="0" anchor="ctr"/>
          <a:lstStyle/>
          <a:p>
            <a:pPr algn="ctr" indent="0" marL="0">
              <a:buNone/>
            </a:pPr>
            <a:r>
              <a:rPr lang="en-US" sz="1400" b="1" dirty="0">
                <a:solidFill>
                  <a:srgbClr val="0F1B3D"/>
                </a:solidFill>
                <a:latin typeface="Calibri" pitchFamily="34" charset="0"/>
                <a:ea typeface="Calibri" pitchFamily="34" charset="-122"/>
                <a:cs typeface="Calibri" pitchFamily="34" charset="-120"/>
              </a:rPr>
              <a:t>✓</a:t>
            </a:r>
            <a:endParaRPr lang="en-US" sz="1400" dirty="0"/>
          </a:p>
        </p:txBody>
      </p:sp>
      <p:sp>
        <p:nvSpPr>
          <p:cNvPr id="20" name="Text 18"/>
          <p:cNvSpPr/>
          <p:nvPr/>
        </p:nvSpPr>
        <p:spPr>
          <a:xfrm>
            <a:off x="1444752" y="3474720"/>
            <a:ext cx="2468880" cy="502920"/>
          </a:xfrm>
          <a:prstGeom prst="rect">
            <a:avLst/>
          </a:prstGeom>
          <a:noFill/>
          <a:ln/>
        </p:spPr>
        <p:txBody>
          <a:bodyPr wrap="square" lIns="0" tIns="0" rIns="0" bIns="0" rtlCol="0" anchor="ctr"/>
          <a:lstStyle/>
          <a:p>
            <a:pPr indent="0" marL="0">
              <a:buNone/>
            </a:pPr>
            <a:r>
              <a:rPr lang="en-US" sz="1300" b="1" dirty="0">
                <a:solidFill>
                  <a:srgbClr val="0F1B3D"/>
                </a:solidFill>
                <a:latin typeface="Calibri" pitchFamily="34" charset="0"/>
                <a:ea typeface="Calibri" pitchFamily="34" charset="-122"/>
                <a:cs typeface="Calibri" pitchFamily="34" charset="-120"/>
              </a:rPr>
              <a:t>Skills and tools</a:t>
            </a:r>
            <a:endParaRPr lang="en-US" sz="1300" dirty="0"/>
          </a:p>
        </p:txBody>
      </p:sp>
      <p:sp>
        <p:nvSpPr>
          <p:cNvPr id="21" name="Shape 19"/>
          <p:cNvSpPr/>
          <p:nvPr/>
        </p:nvSpPr>
        <p:spPr>
          <a:xfrm>
            <a:off x="4343400" y="3291840"/>
            <a:ext cx="3429000" cy="841248"/>
          </a:xfrm>
          <a:prstGeom prst="roundRect">
            <a:avLst>
              <a:gd name="adj" fmla="val 15217"/>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22" name="Shape 20"/>
          <p:cNvSpPr/>
          <p:nvPr/>
        </p:nvSpPr>
        <p:spPr>
          <a:xfrm>
            <a:off x="4581144" y="3511296"/>
            <a:ext cx="402336" cy="402336"/>
          </a:xfrm>
          <a:prstGeom prst="ellipse">
            <a:avLst/>
          </a:prstGeom>
          <a:solidFill>
            <a:srgbClr val="16C89A"/>
          </a:solidFill>
          <a:ln w="12700">
            <a:solidFill>
              <a:srgbClr val="16C89A"/>
            </a:solidFill>
            <a:prstDash val="solid"/>
          </a:ln>
        </p:spPr>
      </p:sp>
      <p:sp>
        <p:nvSpPr>
          <p:cNvPr id="23" name="Text 21"/>
          <p:cNvSpPr/>
          <p:nvPr/>
        </p:nvSpPr>
        <p:spPr>
          <a:xfrm>
            <a:off x="4581144" y="3511296"/>
            <a:ext cx="402336" cy="402336"/>
          </a:xfrm>
          <a:prstGeom prst="rect">
            <a:avLst/>
          </a:prstGeom>
          <a:noFill/>
          <a:ln/>
        </p:spPr>
        <p:txBody>
          <a:bodyPr wrap="square" lIns="0" tIns="0" rIns="0" bIns="0" rtlCol="0" anchor="ctr"/>
          <a:lstStyle/>
          <a:p>
            <a:pPr algn="ctr" indent="0" marL="0">
              <a:buNone/>
            </a:pPr>
            <a:r>
              <a:rPr lang="en-US" sz="1400" b="1" dirty="0">
                <a:solidFill>
                  <a:srgbClr val="0F1B3D"/>
                </a:solidFill>
                <a:latin typeface="Calibri" pitchFamily="34" charset="0"/>
                <a:ea typeface="Calibri" pitchFamily="34" charset="-122"/>
                <a:cs typeface="Calibri" pitchFamily="34" charset="-120"/>
              </a:rPr>
              <a:t>✓</a:t>
            </a:r>
            <a:endParaRPr lang="en-US" sz="1400" dirty="0"/>
          </a:p>
        </p:txBody>
      </p:sp>
      <p:sp>
        <p:nvSpPr>
          <p:cNvPr id="24" name="Text 22"/>
          <p:cNvSpPr/>
          <p:nvPr/>
        </p:nvSpPr>
        <p:spPr>
          <a:xfrm>
            <a:off x="5148072" y="3474720"/>
            <a:ext cx="2468880" cy="502920"/>
          </a:xfrm>
          <a:prstGeom prst="rect">
            <a:avLst/>
          </a:prstGeom>
          <a:noFill/>
          <a:ln/>
        </p:spPr>
        <p:txBody>
          <a:bodyPr wrap="square" lIns="0" tIns="0" rIns="0" bIns="0" rtlCol="0" anchor="ctr"/>
          <a:lstStyle/>
          <a:p>
            <a:pPr indent="0" marL="0">
              <a:buNone/>
            </a:pPr>
            <a:r>
              <a:rPr lang="en-US" sz="1300" b="1" dirty="0">
                <a:solidFill>
                  <a:srgbClr val="0F1B3D"/>
                </a:solidFill>
                <a:latin typeface="Calibri" pitchFamily="34" charset="0"/>
                <a:ea typeface="Calibri" pitchFamily="34" charset="-122"/>
                <a:cs typeface="Calibri" pitchFamily="34" charset="-120"/>
              </a:rPr>
              <a:t>Achievements in their words</a:t>
            </a:r>
            <a:endParaRPr lang="en-US" sz="1300" dirty="0"/>
          </a:p>
        </p:txBody>
      </p:sp>
      <p:sp>
        <p:nvSpPr>
          <p:cNvPr id="25" name="Shape 23"/>
          <p:cNvSpPr/>
          <p:nvPr/>
        </p:nvSpPr>
        <p:spPr>
          <a:xfrm>
            <a:off x="8046720" y="3291840"/>
            <a:ext cx="3429000" cy="841248"/>
          </a:xfrm>
          <a:prstGeom prst="roundRect">
            <a:avLst>
              <a:gd name="adj" fmla="val 15217"/>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26" name="Shape 24"/>
          <p:cNvSpPr/>
          <p:nvPr/>
        </p:nvSpPr>
        <p:spPr>
          <a:xfrm>
            <a:off x="8284464" y="3511296"/>
            <a:ext cx="402336" cy="402336"/>
          </a:xfrm>
          <a:prstGeom prst="ellipse">
            <a:avLst/>
          </a:prstGeom>
          <a:solidFill>
            <a:srgbClr val="16C89A"/>
          </a:solidFill>
          <a:ln w="12700">
            <a:solidFill>
              <a:srgbClr val="16C89A"/>
            </a:solidFill>
            <a:prstDash val="solid"/>
          </a:ln>
        </p:spPr>
      </p:sp>
      <p:sp>
        <p:nvSpPr>
          <p:cNvPr id="27" name="Text 25"/>
          <p:cNvSpPr/>
          <p:nvPr/>
        </p:nvSpPr>
        <p:spPr>
          <a:xfrm>
            <a:off x="8284464" y="3511296"/>
            <a:ext cx="402336" cy="402336"/>
          </a:xfrm>
          <a:prstGeom prst="rect">
            <a:avLst/>
          </a:prstGeom>
          <a:noFill/>
          <a:ln/>
        </p:spPr>
        <p:txBody>
          <a:bodyPr wrap="square" lIns="0" tIns="0" rIns="0" bIns="0" rtlCol="0" anchor="ctr"/>
          <a:lstStyle/>
          <a:p>
            <a:pPr algn="ctr" indent="0" marL="0">
              <a:buNone/>
            </a:pPr>
            <a:r>
              <a:rPr lang="en-US" sz="1400" b="1" dirty="0">
                <a:solidFill>
                  <a:srgbClr val="0F1B3D"/>
                </a:solidFill>
                <a:latin typeface="Calibri" pitchFamily="34" charset="0"/>
                <a:ea typeface="Calibri" pitchFamily="34" charset="-122"/>
                <a:cs typeface="Calibri" pitchFamily="34" charset="-120"/>
              </a:rPr>
              <a:t>✓</a:t>
            </a:r>
            <a:endParaRPr lang="en-US" sz="1400" dirty="0"/>
          </a:p>
        </p:txBody>
      </p:sp>
      <p:sp>
        <p:nvSpPr>
          <p:cNvPr id="28" name="Text 26"/>
          <p:cNvSpPr/>
          <p:nvPr/>
        </p:nvSpPr>
        <p:spPr>
          <a:xfrm>
            <a:off x="8851392" y="3474720"/>
            <a:ext cx="2468880" cy="502920"/>
          </a:xfrm>
          <a:prstGeom prst="rect">
            <a:avLst/>
          </a:prstGeom>
          <a:noFill/>
          <a:ln/>
        </p:spPr>
        <p:txBody>
          <a:bodyPr wrap="square" lIns="0" tIns="0" rIns="0" bIns="0" rtlCol="0" anchor="ctr"/>
          <a:lstStyle/>
          <a:p>
            <a:pPr indent="0" marL="0">
              <a:buNone/>
            </a:pPr>
            <a:r>
              <a:rPr lang="en-US" sz="1300" b="1" dirty="0">
                <a:solidFill>
                  <a:srgbClr val="0F1B3D"/>
                </a:solidFill>
                <a:latin typeface="Calibri" pitchFamily="34" charset="0"/>
                <a:ea typeface="Calibri" pitchFamily="34" charset="-122"/>
                <a:cs typeface="Calibri" pitchFamily="34" charset="-120"/>
              </a:rPr>
              <a:t>Bilingual CV, ready to send</a:t>
            </a:r>
            <a:endParaRPr lang="en-US" sz="1300" dirty="0"/>
          </a:p>
        </p:txBody>
      </p:sp>
      <p:sp>
        <p:nvSpPr>
          <p:cNvPr id="29" name="Shape 27"/>
          <p:cNvSpPr/>
          <p:nvPr/>
        </p:nvSpPr>
        <p:spPr>
          <a:xfrm>
            <a:off x="640080" y="4526280"/>
            <a:ext cx="10607040" cy="960120"/>
          </a:xfrm>
          <a:prstGeom prst="roundRect">
            <a:avLst>
              <a:gd name="adj" fmla="val 13333"/>
            </a:avLst>
          </a:prstGeom>
          <a:solidFill>
            <a:srgbClr val="0F1B3D"/>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30" name="Text 28"/>
          <p:cNvSpPr/>
          <p:nvPr/>
        </p:nvSpPr>
        <p:spPr>
          <a:xfrm>
            <a:off x="1005840" y="4709160"/>
            <a:ext cx="9875520" cy="5943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Free-text trades are grouped automatically — "driver", "private driver" and "سائق خاص" resolve to one searchable occupation.</a:t>
            </a:r>
            <a:endParaRPr lang="en-US" sz="1400" dirty="0"/>
          </a:p>
        </p:txBody>
      </p:sp>
      <p:sp>
        <p:nvSpPr>
          <p:cNvPr id="31" name="Text 29"/>
          <p:cNvSpPr/>
          <p:nvPr/>
        </p:nvSpPr>
        <p:spPr>
          <a:xfrm>
            <a:off x="640080" y="6400800"/>
            <a:ext cx="1828800" cy="228600"/>
          </a:xfrm>
          <a:prstGeom prst="rect">
            <a:avLst/>
          </a:prstGeom>
          <a:noFill/>
          <a:ln/>
        </p:spPr>
        <p:txBody>
          <a:bodyPr wrap="square" lIns="0" tIns="0" rIns="0" bIns="0" rtlCol="0" anchor="ctr"/>
          <a:lstStyle/>
          <a:p>
            <a:pPr indent="0" marL="0">
              <a:buNone/>
            </a:pPr>
            <a:r>
              <a:rPr lang="en-US" sz="900" dirty="0">
                <a:solidFill>
                  <a:srgbClr val="A6ADB8"/>
                </a:solidFill>
                <a:latin typeface="Calibri" pitchFamily="34" charset="0"/>
                <a:ea typeface="Calibri" pitchFamily="34" charset="-122"/>
                <a:cs typeface="Calibri" pitchFamily="34" charset="-120"/>
              </a:rPr>
              <a:t>Naatiq</a:t>
            </a:r>
            <a:endParaRPr lang="en-US" sz="900" dirty="0"/>
          </a:p>
        </p:txBody>
      </p:sp>
      <p:sp>
        <p:nvSpPr>
          <p:cNvPr id="32" name="Text 30"/>
          <p:cNvSpPr/>
          <p:nvPr/>
        </p:nvSpPr>
        <p:spPr>
          <a:xfrm>
            <a:off x="10607040" y="6400800"/>
            <a:ext cx="914400" cy="228600"/>
          </a:xfrm>
          <a:prstGeom prst="rect">
            <a:avLst/>
          </a:prstGeom>
          <a:noFill/>
          <a:ln/>
        </p:spPr>
        <p:txBody>
          <a:bodyPr wrap="square" lIns="0" tIns="0" rIns="0" bIns="0" rtlCol="0" anchor="ctr"/>
          <a:lstStyle/>
          <a:p>
            <a:pPr algn="r" indent="0" marL="0">
              <a:buNone/>
            </a:pPr>
            <a:r>
              <a:rPr lang="en-US" sz="900" dirty="0">
                <a:solidFill>
                  <a:srgbClr val="A6ADB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F5FFF"/>
                </a:solidFill>
                <a:latin typeface="Calibri" pitchFamily="34" charset="0"/>
                <a:ea typeface="Calibri" pitchFamily="34" charset="-122"/>
                <a:cs typeface="Calibri" pitchFamily="34" charset="-120"/>
              </a:rPr>
              <a:t>DEFENSIBILITY</a:t>
            </a:r>
            <a:endParaRPr lang="en-US" sz="1100" dirty="0"/>
          </a:p>
        </p:txBody>
      </p:sp>
      <p:sp>
        <p:nvSpPr>
          <p:cNvPr id="3" name="Text 1"/>
          <p:cNvSpPr/>
          <p:nvPr/>
        </p:nvSpPr>
        <p:spPr>
          <a:xfrm>
            <a:off x="640080" y="658368"/>
            <a:ext cx="10881360" cy="658368"/>
          </a:xfrm>
          <a:prstGeom prst="rect">
            <a:avLst/>
          </a:prstGeom>
          <a:noFill/>
          <a:ln/>
        </p:spPr>
        <p:txBody>
          <a:bodyPr wrap="square" lIns="0" tIns="0" rIns="0" bIns="0" rtlCol="0" anchor="ctr"/>
          <a:lstStyle/>
          <a:p>
            <a:pPr indent="0" marL="0">
              <a:buNone/>
            </a:pPr>
            <a:r>
              <a:rPr lang="en-US" sz="3400" b="1" dirty="0">
                <a:solidFill>
                  <a:srgbClr val="0F1B3D"/>
                </a:solidFill>
                <a:latin typeface="Calibri" pitchFamily="34" charset="0"/>
                <a:ea typeface="Calibri" pitchFamily="34" charset="-122"/>
                <a:cs typeface="Calibri" pitchFamily="34" charset="-120"/>
              </a:rPr>
              <a:t>Four things that are harder than they look</a:t>
            </a:r>
            <a:endParaRPr lang="en-US" sz="3400" dirty="0"/>
          </a:p>
        </p:txBody>
      </p:sp>
      <p:sp>
        <p:nvSpPr>
          <p:cNvPr id="4" name="Shape 2"/>
          <p:cNvSpPr/>
          <p:nvPr/>
        </p:nvSpPr>
        <p:spPr>
          <a:xfrm>
            <a:off x="640080" y="2057400"/>
            <a:ext cx="5257800" cy="1463040"/>
          </a:xfrm>
          <a:prstGeom prst="roundRect">
            <a:avLst>
              <a:gd name="adj" fmla="val 8750"/>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5" name="Text 3"/>
          <p:cNvSpPr/>
          <p:nvPr/>
        </p:nvSpPr>
        <p:spPr>
          <a:xfrm>
            <a:off x="960120" y="2258568"/>
            <a:ext cx="4663440" cy="292608"/>
          </a:xfrm>
          <a:prstGeom prst="rect">
            <a:avLst/>
          </a:prstGeom>
          <a:noFill/>
          <a:ln/>
        </p:spPr>
        <p:txBody>
          <a:bodyPr wrap="square" lIns="0" tIns="0" rIns="0" bIns="0" rtlCol="0" anchor="ctr"/>
          <a:lstStyle/>
          <a:p>
            <a:pPr indent="0" marL="0">
              <a:buNone/>
            </a:pPr>
            <a:r>
              <a:rPr lang="en-US" sz="1550" b="1" dirty="0">
                <a:solidFill>
                  <a:srgbClr val="2F5FFF"/>
                </a:solidFill>
                <a:latin typeface="Calibri" pitchFamily="34" charset="0"/>
                <a:ea typeface="Calibri" pitchFamily="34" charset="-122"/>
                <a:cs typeface="Calibri" pitchFamily="34" charset="-120"/>
              </a:rPr>
              <a:t>Dialect, not textbook Arabic</a:t>
            </a:r>
            <a:endParaRPr lang="en-US" sz="1550" dirty="0"/>
          </a:p>
        </p:txBody>
      </p:sp>
      <p:sp>
        <p:nvSpPr>
          <p:cNvPr id="6" name="Text 4"/>
          <p:cNvSpPr/>
          <p:nvPr/>
        </p:nvSpPr>
        <p:spPr>
          <a:xfrm>
            <a:off x="960120" y="2606040"/>
            <a:ext cx="4663440" cy="82296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Workers speak Gulf and Levantine dialect. Transcription and the interview persona are both tuned for it.</a:t>
            </a:r>
            <a:endParaRPr lang="en-US" sz="1250" dirty="0"/>
          </a:p>
        </p:txBody>
      </p:sp>
      <p:sp>
        <p:nvSpPr>
          <p:cNvPr id="7" name="Shape 5"/>
          <p:cNvSpPr/>
          <p:nvPr/>
        </p:nvSpPr>
        <p:spPr>
          <a:xfrm>
            <a:off x="6172200" y="2057400"/>
            <a:ext cx="5257800" cy="1463040"/>
          </a:xfrm>
          <a:prstGeom prst="roundRect">
            <a:avLst>
              <a:gd name="adj" fmla="val 8750"/>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8" name="Text 6"/>
          <p:cNvSpPr/>
          <p:nvPr/>
        </p:nvSpPr>
        <p:spPr>
          <a:xfrm>
            <a:off x="6492240" y="2258568"/>
            <a:ext cx="4663440" cy="292608"/>
          </a:xfrm>
          <a:prstGeom prst="rect">
            <a:avLst/>
          </a:prstGeom>
          <a:noFill/>
          <a:ln/>
        </p:spPr>
        <p:txBody>
          <a:bodyPr wrap="square" lIns="0" tIns="0" rIns="0" bIns="0" rtlCol="0" anchor="ctr"/>
          <a:lstStyle/>
          <a:p>
            <a:pPr indent="0" marL="0">
              <a:buNone/>
            </a:pPr>
            <a:r>
              <a:rPr lang="en-US" sz="1550" b="1" dirty="0">
                <a:solidFill>
                  <a:srgbClr val="2F5FFF"/>
                </a:solidFill>
                <a:latin typeface="Calibri" pitchFamily="34" charset="0"/>
                <a:ea typeface="Calibri" pitchFamily="34" charset="-122"/>
                <a:cs typeface="Calibri" pitchFamily="34" charset="-120"/>
              </a:rPr>
              <a:t>Arabic that renders correctly</a:t>
            </a:r>
            <a:endParaRPr lang="en-US" sz="1550" dirty="0"/>
          </a:p>
        </p:txBody>
      </p:sp>
      <p:sp>
        <p:nvSpPr>
          <p:cNvPr id="9" name="Text 7"/>
          <p:cNvSpPr/>
          <p:nvPr/>
        </p:nvSpPr>
        <p:spPr>
          <a:xfrm>
            <a:off x="6492240" y="2606040"/>
            <a:ext cx="4663440" cy="82296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Right-to-left text whose letters change shape by position. Most PDF tooling gets this visibly wrong; we render through a browser engine.</a:t>
            </a:r>
            <a:endParaRPr lang="en-US" sz="1250" dirty="0"/>
          </a:p>
        </p:txBody>
      </p:sp>
      <p:sp>
        <p:nvSpPr>
          <p:cNvPr id="10" name="Shape 8"/>
          <p:cNvSpPr/>
          <p:nvPr/>
        </p:nvSpPr>
        <p:spPr>
          <a:xfrm>
            <a:off x="640080" y="3703320"/>
            <a:ext cx="5257800" cy="1463040"/>
          </a:xfrm>
          <a:prstGeom prst="roundRect">
            <a:avLst>
              <a:gd name="adj" fmla="val 8750"/>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11" name="Text 9"/>
          <p:cNvSpPr/>
          <p:nvPr/>
        </p:nvSpPr>
        <p:spPr>
          <a:xfrm>
            <a:off x="960120" y="3904488"/>
            <a:ext cx="4663440" cy="292608"/>
          </a:xfrm>
          <a:prstGeom prst="rect">
            <a:avLst/>
          </a:prstGeom>
          <a:noFill/>
          <a:ln/>
        </p:spPr>
        <p:txBody>
          <a:bodyPr wrap="square" lIns="0" tIns="0" rIns="0" bIns="0" rtlCol="0" anchor="ctr"/>
          <a:lstStyle/>
          <a:p>
            <a:pPr indent="0" marL="0">
              <a:buNone/>
            </a:pPr>
            <a:r>
              <a:rPr lang="en-US" sz="1550" b="1" dirty="0">
                <a:solidFill>
                  <a:srgbClr val="2F5FFF"/>
                </a:solidFill>
                <a:latin typeface="Calibri" pitchFamily="34" charset="0"/>
                <a:ea typeface="Calibri" pitchFamily="34" charset="-122"/>
                <a:cs typeface="Calibri" pitchFamily="34" charset="-120"/>
              </a:rPr>
              <a:t>Truthfulness as a constraint</a:t>
            </a:r>
            <a:endParaRPr lang="en-US" sz="1550" dirty="0"/>
          </a:p>
        </p:txBody>
      </p:sp>
      <p:sp>
        <p:nvSpPr>
          <p:cNvPr id="12" name="Text 10"/>
          <p:cNvSpPr/>
          <p:nvPr/>
        </p:nvSpPr>
        <p:spPr>
          <a:xfrm>
            <a:off x="960120" y="4251960"/>
            <a:ext cx="4663440" cy="82296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A padded CV costs a worker their credibility and you your client. Non-fabrication is enforced in the prompt and again in code.</a:t>
            </a:r>
            <a:endParaRPr lang="en-US" sz="1250" dirty="0"/>
          </a:p>
        </p:txBody>
      </p:sp>
      <p:sp>
        <p:nvSpPr>
          <p:cNvPr id="13" name="Shape 11"/>
          <p:cNvSpPr/>
          <p:nvPr/>
        </p:nvSpPr>
        <p:spPr>
          <a:xfrm>
            <a:off x="6172200" y="3703320"/>
            <a:ext cx="5257800" cy="1463040"/>
          </a:xfrm>
          <a:prstGeom prst="roundRect">
            <a:avLst>
              <a:gd name="adj" fmla="val 8750"/>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14" name="Text 12"/>
          <p:cNvSpPr/>
          <p:nvPr/>
        </p:nvSpPr>
        <p:spPr>
          <a:xfrm>
            <a:off x="6492240" y="3904488"/>
            <a:ext cx="4663440" cy="292608"/>
          </a:xfrm>
          <a:prstGeom prst="rect">
            <a:avLst/>
          </a:prstGeom>
          <a:noFill/>
          <a:ln/>
        </p:spPr>
        <p:txBody>
          <a:bodyPr wrap="square" lIns="0" tIns="0" rIns="0" bIns="0" rtlCol="0" anchor="ctr"/>
          <a:lstStyle/>
          <a:p>
            <a:pPr indent="0" marL="0">
              <a:buNone/>
            </a:pPr>
            <a:r>
              <a:rPr lang="en-US" sz="1550" b="1" dirty="0">
                <a:solidFill>
                  <a:srgbClr val="2F5FFF"/>
                </a:solidFill>
                <a:latin typeface="Calibri" pitchFamily="34" charset="0"/>
                <a:ea typeface="Calibri" pitchFamily="34" charset="-122"/>
                <a:cs typeface="Calibri" pitchFamily="34" charset="-120"/>
              </a:rPr>
              <a:t>Privacy built into the schema</a:t>
            </a:r>
            <a:endParaRPr lang="en-US" sz="1550" dirty="0"/>
          </a:p>
        </p:txBody>
      </p:sp>
      <p:sp>
        <p:nvSpPr>
          <p:cNvPr id="15" name="Text 13"/>
          <p:cNvSpPr/>
          <p:nvPr/>
        </p:nvSpPr>
        <p:spPr>
          <a:xfrm>
            <a:off x="6492240" y="4251960"/>
            <a:ext cx="4663440" cy="82296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Public surfaces physically cannot read a full name or phone number — enforced by column grants, not by good intentions.</a:t>
            </a:r>
            <a:endParaRPr lang="en-US" sz="1250" dirty="0"/>
          </a:p>
        </p:txBody>
      </p:sp>
      <p:sp>
        <p:nvSpPr>
          <p:cNvPr id="16" name="Text 14"/>
          <p:cNvSpPr/>
          <p:nvPr/>
        </p:nvSpPr>
        <p:spPr>
          <a:xfrm>
            <a:off x="640080" y="6400800"/>
            <a:ext cx="1828800" cy="228600"/>
          </a:xfrm>
          <a:prstGeom prst="rect">
            <a:avLst/>
          </a:prstGeom>
          <a:noFill/>
          <a:ln/>
        </p:spPr>
        <p:txBody>
          <a:bodyPr wrap="square" lIns="0" tIns="0" rIns="0" bIns="0" rtlCol="0" anchor="ctr"/>
          <a:lstStyle/>
          <a:p>
            <a:pPr indent="0" marL="0">
              <a:buNone/>
            </a:pPr>
            <a:r>
              <a:rPr lang="en-US" sz="900" dirty="0">
                <a:solidFill>
                  <a:srgbClr val="A6ADB8"/>
                </a:solidFill>
                <a:latin typeface="Calibri" pitchFamily="34" charset="0"/>
                <a:ea typeface="Calibri" pitchFamily="34" charset="-122"/>
                <a:cs typeface="Calibri" pitchFamily="34" charset="-120"/>
              </a:rPr>
              <a:t>Naatiq</a:t>
            </a:r>
            <a:endParaRPr lang="en-US" sz="900" dirty="0"/>
          </a:p>
        </p:txBody>
      </p:sp>
      <p:sp>
        <p:nvSpPr>
          <p:cNvPr id="17" name="Text 15"/>
          <p:cNvSpPr/>
          <p:nvPr/>
        </p:nvSpPr>
        <p:spPr>
          <a:xfrm>
            <a:off x="10607040" y="6400800"/>
            <a:ext cx="914400" cy="228600"/>
          </a:xfrm>
          <a:prstGeom prst="rect">
            <a:avLst/>
          </a:prstGeom>
          <a:noFill/>
          <a:ln/>
        </p:spPr>
        <p:txBody>
          <a:bodyPr wrap="square" lIns="0" tIns="0" rIns="0" bIns="0" rtlCol="0" anchor="ctr"/>
          <a:lstStyle/>
          <a:p>
            <a:pPr algn="r" indent="0" marL="0">
              <a:buNone/>
            </a:pPr>
            <a:r>
              <a:rPr lang="en-US" sz="900" dirty="0">
                <a:solidFill>
                  <a:srgbClr val="A6ADB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F5FFF"/>
                </a:solidFill>
                <a:latin typeface="Calibri" pitchFamily="34" charset="0"/>
                <a:ea typeface="Calibri" pitchFamily="34" charset="-122"/>
                <a:cs typeface="Calibri" pitchFamily="34" charset="-120"/>
              </a:rPr>
              <a:t>INTEGRATION</a:t>
            </a:r>
            <a:endParaRPr lang="en-US" sz="1100" dirty="0"/>
          </a:p>
        </p:txBody>
      </p:sp>
      <p:sp>
        <p:nvSpPr>
          <p:cNvPr id="3" name="Text 1"/>
          <p:cNvSpPr/>
          <p:nvPr/>
        </p:nvSpPr>
        <p:spPr>
          <a:xfrm>
            <a:off x="640080" y="658368"/>
            <a:ext cx="10881360" cy="658368"/>
          </a:xfrm>
          <a:prstGeom prst="rect">
            <a:avLst/>
          </a:prstGeom>
          <a:noFill/>
          <a:ln/>
        </p:spPr>
        <p:txBody>
          <a:bodyPr wrap="square" lIns="0" tIns="0" rIns="0" bIns="0" rtlCol="0" anchor="ctr"/>
          <a:lstStyle/>
          <a:p>
            <a:pPr indent="0" marL="0">
              <a:buNone/>
            </a:pPr>
            <a:r>
              <a:rPr lang="en-US" sz="3400" b="1" dirty="0">
                <a:solidFill>
                  <a:srgbClr val="0F1B3D"/>
                </a:solidFill>
                <a:latin typeface="Calibri" pitchFamily="34" charset="0"/>
                <a:ea typeface="Calibri" pitchFamily="34" charset="-122"/>
                <a:cs typeface="Calibri" pitchFamily="34" charset="-120"/>
              </a:rPr>
              <a:t>How it fits your existing operation</a:t>
            </a:r>
            <a:endParaRPr lang="en-US" sz="3400" dirty="0"/>
          </a:p>
        </p:txBody>
      </p:sp>
      <p:sp>
        <p:nvSpPr>
          <p:cNvPr id="4" name="Text 2"/>
          <p:cNvSpPr/>
          <p:nvPr/>
        </p:nvSpPr>
        <p:spPr>
          <a:xfrm>
            <a:off x="640080" y="1335024"/>
            <a:ext cx="10332720" cy="457200"/>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Naatiq is an intake layer, not a replacement for your ATS.</a:t>
            </a:r>
            <a:endParaRPr lang="en-US" sz="1500" dirty="0"/>
          </a:p>
        </p:txBody>
      </p:sp>
      <p:sp>
        <p:nvSpPr>
          <p:cNvPr id="5" name="Shape 3"/>
          <p:cNvSpPr/>
          <p:nvPr/>
        </p:nvSpPr>
        <p:spPr>
          <a:xfrm>
            <a:off x="640080" y="2377440"/>
            <a:ext cx="3291840" cy="1737360"/>
          </a:xfrm>
          <a:prstGeom prst="roundRect">
            <a:avLst>
              <a:gd name="adj" fmla="val 7368"/>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6" name="Text 4"/>
          <p:cNvSpPr/>
          <p:nvPr/>
        </p:nvSpPr>
        <p:spPr>
          <a:xfrm>
            <a:off x="914400" y="2606040"/>
            <a:ext cx="2743200" cy="320040"/>
          </a:xfrm>
          <a:prstGeom prst="rect">
            <a:avLst/>
          </a:prstGeom>
          <a:noFill/>
          <a:ln/>
        </p:spPr>
        <p:txBody>
          <a:bodyPr wrap="square" lIns="0" tIns="0" rIns="0" bIns="0" rtlCol="0" anchor="ctr"/>
          <a:lstStyle/>
          <a:p>
            <a:pPr indent="0" marL="0">
              <a:buNone/>
            </a:pPr>
            <a:r>
              <a:rPr lang="en-US" sz="1700" b="1" dirty="0">
                <a:solidFill>
                  <a:srgbClr val="0F1B3D"/>
                </a:solidFill>
                <a:latin typeface="Calibri" pitchFamily="34" charset="0"/>
                <a:ea typeface="Calibri" pitchFamily="34" charset="-122"/>
                <a:cs typeface="Calibri" pitchFamily="34" charset="-120"/>
              </a:rPr>
              <a:t>Candidate</a:t>
            </a:r>
            <a:endParaRPr lang="en-US" sz="1700" dirty="0"/>
          </a:p>
        </p:txBody>
      </p:sp>
      <p:sp>
        <p:nvSpPr>
          <p:cNvPr id="7" name="Text 5"/>
          <p:cNvSpPr/>
          <p:nvPr/>
        </p:nvSpPr>
        <p:spPr>
          <a:xfrm>
            <a:off x="914400" y="2971800"/>
            <a:ext cx="2788920" cy="91440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WhatsApp voice note</a:t>
            </a:r>
            <a:endParaRPr lang="en-US" sz="1250" dirty="0"/>
          </a:p>
        </p:txBody>
      </p:sp>
      <p:sp>
        <p:nvSpPr>
          <p:cNvPr id="8" name="Text 6"/>
          <p:cNvSpPr/>
          <p:nvPr/>
        </p:nvSpPr>
        <p:spPr>
          <a:xfrm>
            <a:off x="3950208" y="3017520"/>
            <a:ext cx="411480" cy="365760"/>
          </a:xfrm>
          <a:prstGeom prst="rect">
            <a:avLst/>
          </a:prstGeom>
          <a:noFill/>
          <a:ln/>
        </p:spPr>
        <p:txBody>
          <a:bodyPr wrap="square" lIns="0" tIns="0" rIns="0" bIns="0" rtlCol="0" anchor="ctr"/>
          <a:lstStyle/>
          <a:p>
            <a:pPr algn="ctr" indent="0" marL="0">
              <a:buNone/>
            </a:pPr>
            <a:r>
              <a:rPr lang="en-US" sz="2000" b="1" dirty="0">
                <a:solidFill>
                  <a:srgbClr val="2F5FFF"/>
                </a:solidFill>
                <a:latin typeface="Calibri" pitchFamily="34" charset="0"/>
                <a:ea typeface="Calibri" pitchFamily="34" charset="-122"/>
                <a:cs typeface="Calibri" pitchFamily="34" charset="-120"/>
              </a:rPr>
              <a:t>→</a:t>
            </a:r>
            <a:endParaRPr lang="en-US" sz="2000" dirty="0"/>
          </a:p>
        </p:txBody>
      </p:sp>
      <p:sp>
        <p:nvSpPr>
          <p:cNvPr id="9" name="Shape 7"/>
          <p:cNvSpPr/>
          <p:nvPr/>
        </p:nvSpPr>
        <p:spPr>
          <a:xfrm>
            <a:off x="4389120" y="2377440"/>
            <a:ext cx="3291840" cy="1737360"/>
          </a:xfrm>
          <a:prstGeom prst="roundRect">
            <a:avLst>
              <a:gd name="adj" fmla="val 7368"/>
            </a:avLst>
          </a:prstGeom>
          <a:solidFill>
            <a:srgbClr val="0F1B3D"/>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10" name="Text 8"/>
          <p:cNvSpPr/>
          <p:nvPr/>
        </p:nvSpPr>
        <p:spPr>
          <a:xfrm>
            <a:off x="4663440" y="2606040"/>
            <a:ext cx="2743200" cy="3200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Naatiq</a:t>
            </a:r>
            <a:endParaRPr lang="en-US" sz="1700" dirty="0"/>
          </a:p>
        </p:txBody>
      </p:sp>
      <p:sp>
        <p:nvSpPr>
          <p:cNvPr id="11" name="Text 9"/>
          <p:cNvSpPr/>
          <p:nvPr/>
        </p:nvSpPr>
        <p:spPr>
          <a:xfrm>
            <a:off x="4663440" y="2971800"/>
            <a:ext cx="2788920" cy="914400"/>
          </a:xfrm>
          <a:prstGeom prst="rect">
            <a:avLst/>
          </a:prstGeom>
          <a:noFill/>
          <a:ln/>
        </p:spPr>
        <p:txBody>
          <a:bodyPr wrap="square" lIns="0" tIns="0" rIns="0" bIns="0" rtlCol="0" anchor="ctr"/>
          <a:lstStyle/>
          <a:p>
            <a:pPr indent="0" marL="0">
              <a:buNone/>
            </a:pPr>
            <a:r>
              <a:rPr lang="en-US" sz="1250" dirty="0">
                <a:solidFill>
                  <a:srgbClr val="BFCCE5"/>
                </a:solidFill>
                <a:latin typeface="Calibri" pitchFamily="34" charset="0"/>
                <a:ea typeface="Calibri" pitchFamily="34" charset="-122"/>
                <a:cs typeface="Calibri" pitchFamily="34" charset="-120"/>
              </a:rPr>
              <a:t>Transcribe · interview · structure · generate</a:t>
            </a:r>
            <a:endParaRPr lang="en-US" sz="1250" dirty="0"/>
          </a:p>
        </p:txBody>
      </p:sp>
      <p:sp>
        <p:nvSpPr>
          <p:cNvPr id="12" name="Text 10"/>
          <p:cNvSpPr/>
          <p:nvPr/>
        </p:nvSpPr>
        <p:spPr>
          <a:xfrm>
            <a:off x="7699248" y="3017520"/>
            <a:ext cx="411480" cy="365760"/>
          </a:xfrm>
          <a:prstGeom prst="rect">
            <a:avLst/>
          </a:prstGeom>
          <a:noFill/>
          <a:ln/>
        </p:spPr>
        <p:txBody>
          <a:bodyPr wrap="square" lIns="0" tIns="0" rIns="0" bIns="0" rtlCol="0" anchor="ctr"/>
          <a:lstStyle/>
          <a:p>
            <a:pPr algn="ctr" indent="0" marL="0">
              <a:buNone/>
            </a:pPr>
            <a:r>
              <a:rPr lang="en-US" sz="2000" b="1" dirty="0">
                <a:solidFill>
                  <a:srgbClr val="2F5FFF"/>
                </a:solidFill>
                <a:latin typeface="Calibri" pitchFamily="34" charset="0"/>
                <a:ea typeface="Calibri" pitchFamily="34" charset="-122"/>
                <a:cs typeface="Calibri" pitchFamily="34" charset="-120"/>
              </a:rPr>
              <a:t>→</a:t>
            </a:r>
            <a:endParaRPr lang="en-US" sz="2000" dirty="0"/>
          </a:p>
        </p:txBody>
      </p:sp>
      <p:sp>
        <p:nvSpPr>
          <p:cNvPr id="13" name="Shape 11"/>
          <p:cNvSpPr/>
          <p:nvPr/>
        </p:nvSpPr>
        <p:spPr>
          <a:xfrm>
            <a:off x="8138160" y="2377440"/>
            <a:ext cx="3291840" cy="1737360"/>
          </a:xfrm>
          <a:prstGeom prst="roundRect">
            <a:avLst>
              <a:gd name="adj" fmla="val 7368"/>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14" name="Text 12"/>
          <p:cNvSpPr/>
          <p:nvPr/>
        </p:nvSpPr>
        <p:spPr>
          <a:xfrm>
            <a:off x="8412480" y="2606040"/>
            <a:ext cx="2743200" cy="320040"/>
          </a:xfrm>
          <a:prstGeom prst="rect">
            <a:avLst/>
          </a:prstGeom>
          <a:noFill/>
          <a:ln/>
        </p:spPr>
        <p:txBody>
          <a:bodyPr wrap="square" lIns="0" tIns="0" rIns="0" bIns="0" rtlCol="0" anchor="ctr"/>
          <a:lstStyle/>
          <a:p>
            <a:pPr indent="0" marL="0">
              <a:buNone/>
            </a:pPr>
            <a:r>
              <a:rPr lang="en-US" sz="1700" b="1" dirty="0">
                <a:solidFill>
                  <a:srgbClr val="0F1B3D"/>
                </a:solidFill>
                <a:latin typeface="Calibri" pitchFamily="34" charset="0"/>
                <a:ea typeface="Calibri" pitchFamily="34" charset="-122"/>
                <a:cs typeface="Calibri" pitchFamily="34" charset="-120"/>
              </a:rPr>
              <a:t>Your business</a:t>
            </a:r>
            <a:endParaRPr lang="en-US" sz="1700" dirty="0"/>
          </a:p>
        </p:txBody>
      </p:sp>
      <p:sp>
        <p:nvSpPr>
          <p:cNvPr id="15" name="Text 13"/>
          <p:cNvSpPr/>
          <p:nvPr/>
        </p:nvSpPr>
        <p:spPr>
          <a:xfrm>
            <a:off x="8412480" y="2971800"/>
            <a:ext cx="2788920" cy="91440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Search the pool · shortlist · contact · place</a:t>
            </a:r>
            <a:endParaRPr lang="en-US" sz="1250" dirty="0"/>
          </a:p>
        </p:txBody>
      </p:sp>
      <p:sp>
        <p:nvSpPr>
          <p:cNvPr id="16" name="Text 14"/>
          <p:cNvSpPr/>
          <p:nvPr/>
        </p:nvSpPr>
        <p:spPr>
          <a:xfrm>
            <a:off x="640080" y="4526280"/>
            <a:ext cx="10515600" cy="36576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Runs serverless. No infrastructure for you to host, and the marginal cost of one profile is a few cents of compute.</a:t>
            </a:r>
            <a:endParaRPr lang="en-US" sz="1400" dirty="0"/>
          </a:p>
        </p:txBody>
      </p:sp>
      <p:sp>
        <p:nvSpPr>
          <p:cNvPr id="17" name="Shape 15"/>
          <p:cNvSpPr/>
          <p:nvPr/>
        </p:nvSpPr>
        <p:spPr>
          <a:xfrm>
            <a:off x="640080" y="5029200"/>
            <a:ext cx="10607040" cy="868680"/>
          </a:xfrm>
          <a:prstGeom prst="roundRect">
            <a:avLst>
              <a:gd name="adj" fmla="val 14737"/>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18" name="Text 16"/>
          <p:cNvSpPr/>
          <p:nvPr/>
        </p:nvSpPr>
        <p:spPr>
          <a:xfrm>
            <a:off x="1005840" y="5193792"/>
            <a:ext cx="9875520" cy="548640"/>
          </a:xfrm>
          <a:prstGeom prst="rect">
            <a:avLst/>
          </a:prstGeom>
          <a:noFill/>
          <a:ln/>
        </p:spPr>
        <p:txBody>
          <a:bodyPr wrap="square" lIns="0" tIns="0" rIns="0" bIns="0" rtlCol="0" anchor="ctr"/>
          <a:lstStyle/>
          <a:p>
            <a:pPr indent="0" marL="0">
              <a:buNone/>
            </a:pPr>
            <a:r>
              <a:rPr lang="en-US" sz="1350" b="1" dirty="0">
                <a:solidFill>
                  <a:srgbClr val="0F1B3D"/>
                </a:solidFill>
                <a:latin typeface="Calibri" pitchFamily="34" charset="0"/>
                <a:ea typeface="Calibri" pitchFamily="34" charset="-122"/>
                <a:cs typeface="Calibri" pitchFamily="34" charset="-120"/>
              </a:rPr>
              <a:t>Delivery options:  hosted portal  ·  data export into your ATS  ·  API access  ·  fully white-labelled</a:t>
            </a:r>
            <a:endParaRPr lang="en-US" sz="1350" dirty="0"/>
          </a:p>
        </p:txBody>
      </p:sp>
      <p:sp>
        <p:nvSpPr>
          <p:cNvPr id="19" name="Text 17"/>
          <p:cNvSpPr/>
          <p:nvPr/>
        </p:nvSpPr>
        <p:spPr>
          <a:xfrm>
            <a:off x="640080" y="6400800"/>
            <a:ext cx="1828800" cy="228600"/>
          </a:xfrm>
          <a:prstGeom prst="rect">
            <a:avLst/>
          </a:prstGeom>
          <a:noFill/>
          <a:ln/>
        </p:spPr>
        <p:txBody>
          <a:bodyPr wrap="square" lIns="0" tIns="0" rIns="0" bIns="0" rtlCol="0" anchor="ctr"/>
          <a:lstStyle/>
          <a:p>
            <a:pPr indent="0" marL="0">
              <a:buNone/>
            </a:pPr>
            <a:r>
              <a:rPr lang="en-US" sz="900" dirty="0">
                <a:solidFill>
                  <a:srgbClr val="A6ADB8"/>
                </a:solidFill>
                <a:latin typeface="Calibri" pitchFamily="34" charset="0"/>
                <a:ea typeface="Calibri" pitchFamily="34" charset="-122"/>
                <a:cs typeface="Calibri" pitchFamily="34" charset="-120"/>
              </a:rPr>
              <a:t>Naatiq</a:t>
            </a:r>
            <a:endParaRPr lang="en-US" sz="900" dirty="0"/>
          </a:p>
        </p:txBody>
      </p:sp>
      <p:sp>
        <p:nvSpPr>
          <p:cNvPr id="20" name="Text 18"/>
          <p:cNvSpPr/>
          <p:nvPr/>
        </p:nvSpPr>
        <p:spPr>
          <a:xfrm>
            <a:off x="10607040" y="6400800"/>
            <a:ext cx="914400" cy="228600"/>
          </a:xfrm>
          <a:prstGeom prst="rect">
            <a:avLst/>
          </a:prstGeom>
          <a:noFill/>
          <a:ln/>
        </p:spPr>
        <p:txBody>
          <a:bodyPr wrap="square" lIns="0" tIns="0" rIns="0" bIns="0" rtlCol="0" anchor="ctr"/>
          <a:lstStyle/>
          <a:p>
            <a:pPr algn="r" indent="0" marL="0">
              <a:buNone/>
            </a:pPr>
            <a:r>
              <a:rPr lang="en-US" sz="900" dirty="0">
                <a:solidFill>
                  <a:srgbClr val="A6ADB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3D"/>
        </a:solidFill>
      </p:bgPr>
    </p:bg>
    <p:spTree>
      <p:nvGrpSpPr>
        <p:cNvPr id="1" name=""/>
        <p:cNvGrpSpPr/>
        <p:nvPr/>
      </p:nvGrpSpPr>
      <p:grpSpPr>
        <a:xfrm>
          <a:off x="0" y="0"/>
          <a:ext cx="0" cy="0"/>
          <a:chOff x="0" y="0"/>
          <a:chExt cx="0" cy="0"/>
        </a:xfrm>
      </p:grpSpPr>
      <p:sp>
        <p:nvSpPr>
          <p:cNvPr id="2" name="Text 0"/>
          <p:cNvSpPr/>
          <p:nvPr/>
        </p:nvSpPr>
        <p:spPr>
          <a:xfrm>
            <a:off x="640080" y="1005840"/>
            <a:ext cx="5486400" cy="274320"/>
          </a:xfrm>
          <a:prstGeom prst="rect">
            <a:avLst/>
          </a:prstGeom>
          <a:noFill/>
          <a:ln/>
        </p:spPr>
        <p:txBody>
          <a:bodyPr wrap="square" lIns="0" tIns="0" rIns="0" bIns="0" rtlCol="0" anchor="ctr"/>
          <a:lstStyle/>
          <a:p>
            <a:pPr indent="0" marL="0">
              <a:buNone/>
            </a:pPr>
            <a:r>
              <a:rPr lang="en-US" sz="1100" b="1" spc="200" kern="0" dirty="0">
                <a:solidFill>
                  <a:srgbClr val="16C89A"/>
                </a:solidFill>
                <a:latin typeface="Calibri" pitchFamily="34" charset="0"/>
                <a:ea typeface="Calibri" pitchFamily="34" charset="-122"/>
                <a:cs typeface="Calibri" pitchFamily="34" charset="-120"/>
              </a:rPr>
              <a:t>MONETIZATION</a:t>
            </a:r>
            <a:endParaRPr lang="en-US" sz="1100" dirty="0"/>
          </a:p>
        </p:txBody>
      </p:sp>
      <p:sp>
        <p:nvSpPr>
          <p:cNvPr id="3" name="Text 1"/>
          <p:cNvSpPr/>
          <p:nvPr/>
        </p:nvSpPr>
        <p:spPr>
          <a:xfrm>
            <a:off x="640080" y="1463040"/>
            <a:ext cx="10515600" cy="82296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Employers pay. Candidates never do.</a:t>
            </a:r>
            <a:endParaRPr lang="en-US" sz="3800" dirty="0"/>
          </a:p>
        </p:txBody>
      </p:sp>
      <p:sp>
        <p:nvSpPr>
          <p:cNvPr id="4" name="Text 2"/>
          <p:cNvSpPr/>
          <p:nvPr/>
        </p:nvSpPr>
        <p:spPr>
          <a:xfrm>
            <a:off x="640080" y="2514600"/>
            <a:ext cx="7863840" cy="1097280"/>
          </a:xfrm>
          <a:prstGeom prst="rect">
            <a:avLst/>
          </a:prstGeom>
          <a:noFill/>
          <a:ln/>
        </p:spPr>
        <p:txBody>
          <a:bodyPr wrap="square" lIns="0" tIns="0" rIns="0" bIns="0" rtlCol="0" anchor="ctr"/>
          <a:lstStyle/>
          <a:p>
            <a:pPr indent="0" marL="0">
              <a:buNone/>
            </a:pPr>
            <a:r>
              <a:rPr lang="en-US" sz="1500" dirty="0">
                <a:solidFill>
                  <a:srgbClr val="BFCCE5"/>
                </a:solidFill>
                <a:latin typeface="Calibri" pitchFamily="34" charset="0"/>
                <a:ea typeface="Calibri" pitchFamily="34" charset="-122"/>
                <a:cs typeface="Calibri" pitchFamily="34" charset="-120"/>
              </a:rPr>
              <a:t>This is a commercial decision as much as an ethical one. Charging a worker who has no CV is charging the person with the least ability to pay — and it collapses the supply side that makes the pool valuable in the first place.</a:t>
            </a:r>
            <a:endParaRPr lang="en-US" sz="1500" dirty="0"/>
          </a:p>
        </p:txBody>
      </p:sp>
      <p:sp>
        <p:nvSpPr>
          <p:cNvPr id="5" name="Shape 3"/>
          <p:cNvSpPr/>
          <p:nvPr/>
        </p:nvSpPr>
        <p:spPr>
          <a:xfrm>
            <a:off x="640080" y="3977640"/>
            <a:ext cx="3291840" cy="1554480"/>
          </a:xfrm>
          <a:prstGeom prst="roundRect">
            <a:avLst>
              <a:gd name="adj" fmla="val 8235"/>
            </a:avLst>
          </a:prstGeom>
          <a:solidFill>
            <a:srgbClr val="16234A"/>
          </a:solidFill>
          <a:ln w="12700">
            <a:solidFill>
              <a:srgbClr val="2A3A63"/>
            </a:solidFill>
            <a:prstDash val="solid"/>
          </a:ln>
        </p:spPr>
      </p:sp>
      <p:sp>
        <p:nvSpPr>
          <p:cNvPr id="6" name="Text 4"/>
          <p:cNvSpPr/>
          <p:nvPr/>
        </p:nvSpPr>
        <p:spPr>
          <a:xfrm>
            <a:off x="914400" y="4206240"/>
            <a:ext cx="2743200" cy="320040"/>
          </a:xfrm>
          <a:prstGeom prst="rect">
            <a:avLst/>
          </a:prstGeom>
          <a:noFill/>
          <a:ln/>
        </p:spPr>
        <p:txBody>
          <a:bodyPr wrap="square" lIns="0" tIns="0" rIns="0" bIns="0" rtlCol="0" anchor="ctr"/>
          <a:lstStyle/>
          <a:p>
            <a:pPr indent="0" marL="0">
              <a:buNone/>
            </a:pPr>
            <a:r>
              <a:rPr lang="en-US" sz="1600" b="1" dirty="0">
                <a:solidFill>
                  <a:srgbClr val="16C89A"/>
                </a:solidFill>
                <a:latin typeface="Calibri" pitchFamily="34" charset="0"/>
                <a:ea typeface="Calibri" pitchFamily="34" charset="-122"/>
                <a:cs typeface="Calibri" pitchFamily="34" charset="-120"/>
              </a:rPr>
              <a:t>Free forever</a:t>
            </a:r>
            <a:endParaRPr lang="en-US" sz="1600" dirty="0"/>
          </a:p>
        </p:txBody>
      </p:sp>
      <p:sp>
        <p:nvSpPr>
          <p:cNvPr id="7" name="Text 5"/>
          <p:cNvSpPr/>
          <p:nvPr/>
        </p:nvSpPr>
        <p:spPr>
          <a:xfrm>
            <a:off x="914400" y="4572000"/>
            <a:ext cx="2788920" cy="777240"/>
          </a:xfrm>
          <a:prstGeom prst="rect">
            <a:avLst/>
          </a:prstGeom>
          <a:noFill/>
          <a:ln/>
        </p:spPr>
        <p:txBody>
          <a:bodyPr wrap="square" lIns="0" tIns="0" rIns="0" bIns="0" rtlCol="0" anchor="ctr"/>
          <a:lstStyle/>
          <a:p>
            <a:pPr indent="0" marL="0">
              <a:buNone/>
            </a:pPr>
            <a:r>
              <a:rPr lang="en-US" sz="1250" dirty="0">
                <a:solidFill>
                  <a:srgbClr val="BFCCE5"/>
                </a:solidFill>
                <a:latin typeface="Calibri" pitchFamily="34" charset="0"/>
                <a:ea typeface="Calibri" pitchFamily="34" charset="-122"/>
                <a:cs typeface="Calibri" pitchFamily="34" charset="-120"/>
              </a:rPr>
              <a:t>Candidates: interview, CV, updates and re-issues.</a:t>
            </a:r>
            <a:endParaRPr lang="en-US" sz="1250" dirty="0"/>
          </a:p>
        </p:txBody>
      </p:sp>
      <p:sp>
        <p:nvSpPr>
          <p:cNvPr id="8" name="Shape 6"/>
          <p:cNvSpPr/>
          <p:nvPr/>
        </p:nvSpPr>
        <p:spPr>
          <a:xfrm>
            <a:off x="4251960" y="3977640"/>
            <a:ext cx="3291840" cy="1554480"/>
          </a:xfrm>
          <a:prstGeom prst="roundRect">
            <a:avLst>
              <a:gd name="adj" fmla="val 8235"/>
            </a:avLst>
          </a:prstGeom>
          <a:solidFill>
            <a:srgbClr val="16234A"/>
          </a:solidFill>
          <a:ln w="12700">
            <a:solidFill>
              <a:srgbClr val="2A3A63"/>
            </a:solidFill>
            <a:prstDash val="solid"/>
          </a:ln>
        </p:spPr>
      </p:sp>
      <p:sp>
        <p:nvSpPr>
          <p:cNvPr id="9" name="Text 7"/>
          <p:cNvSpPr/>
          <p:nvPr/>
        </p:nvSpPr>
        <p:spPr>
          <a:xfrm>
            <a:off x="4526280" y="4206240"/>
            <a:ext cx="274320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Paid</a:t>
            </a:r>
            <a:endParaRPr lang="en-US" sz="1600" dirty="0"/>
          </a:p>
        </p:txBody>
      </p:sp>
      <p:sp>
        <p:nvSpPr>
          <p:cNvPr id="10" name="Text 8"/>
          <p:cNvSpPr/>
          <p:nvPr/>
        </p:nvSpPr>
        <p:spPr>
          <a:xfrm>
            <a:off x="4526280" y="4572000"/>
            <a:ext cx="2788920" cy="777240"/>
          </a:xfrm>
          <a:prstGeom prst="rect">
            <a:avLst/>
          </a:prstGeom>
          <a:noFill/>
          <a:ln/>
        </p:spPr>
        <p:txBody>
          <a:bodyPr wrap="square" lIns="0" tIns="0" rIns="0" bIns="0" rtlCol="0" anchor="ctr"/>
          <a:lstStyle/>
          <a:p>
            <a:pPr indent="0" marL="0">
              <a:buNone/>
            </a:pPr>
            <a:r>
              <a:rPr lang="en-US" sz="1250" dirty="0">
                <a:solidFill>
                  <a:srgbClr val="BFCCE5"/>
                </a:solidFill>
                <a:latin typeface="Calibri" pitchFamily="34" charset="0"/>
                <a:ea typeface="Calibri" pitchFamily="34" charset="-122"/>
                <a:cs typeface="Calibri" pitchFamily="34" charset="-120"/>
              </a:rPr>
              <a:t>Employers and agencies: access, tooling, integration and outcomes.</a:t>
            </a:r>
            <a:endParaRPr lang="en-US" sz="1250" dirty="0"/>
          </a:p>
        </p:txBody>
      </p:sp>
      <p:sp>
        <p:nvSpPr>
          <p:cNvPr id="11" name="Shape 9"/>
          <p:cNvSpPr/>
          <p:nvPr/>
        </p:nvSpPr>
        <p:spPr>
          <a:xfrm>
            <a:off x="7863840" y="3977640"/>
            <a:ext cx="3291840" cy="1554480"/>
          </a:xfrm>
          <a:prstGeom prst="roundRect">
            <a:avLst>
              <a:gd name="adj" fmla="val 8235"/>
            </a:avLst>
          </a:prstGeom>
          <a:solidFill>
            <a:srgbClr val="16234A"/>
          </a:solidFill>
          <a:ln w="12700">
            <a:solidFill>
              <a:srgbClr val="2A3A63"/>
            </a:solidFill>
            <a:prstDash val="solid"/>
          </a:ln>
        </p:spPr>
      </p:sp>
      <p:sp>
        <p:nvSpPr>
          <p:cNvPr id="12" name="Text 10"/>
          <p:cNvSpPr/>
          <p:nvPr/>
        </p:nvSpPr>
        <p:spPr>
          <a:xfrm>
            <a:off x="8138160" y="4206240"/>
            <a:ext cx="274320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Funded</a:t>
            </a:r>
            <a:endParaRPr lang="en-US" sz="1600" dirty="0"/>
          </a:p>
        </p:txBody>
      </p:sp>
      <p:sp>
        <p:nvSpPr>
          <p:cNvPr id="13" name="Text 11"/>
          <p:cNvSpPr/>
          <p:nvPr/>
        </p:nvSpPr>
        <p:spPr>
          <a:xfrm>
            <a:off x="8138160" y="4572000"/>
            <a:ext cx="2788920" cy="777240"/>
          </a:xfrm>
          <a:prstGeom prst="rect">
            <a:avLst/>
          </a:prstGeom>
          <a:noFill/>
          <a:ln/>
        </p:spPr>
        <p:txBody>
          <a:bodyPr wrap="square" lIns="0" tIns="0" rIns="0" bIns="0" rtlCol="0" anchor="ctr"/>
          <a:lstStyle/>
          <a:p>
            <a:pPr indent="0" marL="0">
              <a:buNone/>
            </a:pPr>
            <a:r>
              <a:rPr lang="en-US" sz="1250" dirty="0">
                <a:solidFill>
                  <a:srgbClr val="BFCCE5"/>
                </a:solidFill>
                <a:latin typeface="Calibri" pitchFamily="34" charset="0"/>
                <a:ea typeface="Calibri" pitchFamily="34" charset="-122"/>
                <a:cs typeface="Calibri" pitchFamily="34" charset="-120"/>
              </a:rPr>
              <a:t>Programmes and sponsors: reach, cohorts and reporting.</a:t>
            </a:r>
            <a:endParaRPr lang="en-US" sz="1250" dirty="0"/>
          </a:p>
        </p:txBody>
      </p:sp>
      <p:sp>
        <p:nvSpPr>
          <p:cNvPr id="14" name="Text 12"/>
          <p:cNvSpPr/>
          <p:nvPr/>
        </p:nvSpPr>
        <p:spPr>
          <a:xfrm>
            <a:off x="640080" y="6400800"/>
            <a:ext cx="1828800" cy="228600"/>
          </a:xfrm>
          <a:prstGeom prst="rect">
            <a:avLst/>
          </a:prstGeom>
          <a:noFill/>
          <a:ln/>
        </p:spPr>
        <p:txBody>
          <a:bodyPr wrap="square" lIns="0" tIns="0" rIns="0" bIns="0" rtlCol="0" anchor="ctr"/>
          <a:lstStyle/>
          <a:p>
            <a:pPr indent="0" marL="0">
              <a:buNone/>
            </a:pPr>
            <a:r>
              <a:rPr lang="en-US" sz="900" dirty="0">
                <a:solidFill>
                  <a:srgbClr val="A6ADB8"/>
                </a:solidFill>
                <a:latin typeface="Calibri" pitchFamily="34" charset="0"/>
                <a:ea typeface="Calibri" pitchFamily="34" charset="-122"/>
                <a:cs typeface="Calibri" pitchFamily="34" charset="-120"/>
              </a:rPr>
              <a:t>Naatiq</a:t>
            </a:r>
            <a:endParaRPr lang="en-US" sz="900" dirty="0"/>
          </a:p>
        </p:txBody>
      </p:sp>
      <p:sp>
        <p:nvSpPr>
          <p:cNvPr id="15" name="Text 13"/>
          <p:cNvSpPr/>
          <p:nvPr/>
        </p:nvSpPr>
        <p:spPr>
          <a:xfrm>
            <a:off x="10607040" y="6400800"/>
            <a:ext cx="914400" cy="228600"/>
          </a:xfrm>
          <a:prstGeom prst="rect">
            <a:avLst/>
          </a:prstGeom>
          <a:noFill/>
          <a:ln/>
        </p:spPr>
        <p:txBody>
          <a:bodyPr wrap="square" lIns="0" tIns="0" rIns="0" bIns="0" rtlCol="0" anchor="ctr"/>
          <a:lstStyle/>
          <a:p>
            <a:pPr algn="r" indent="0" marL="0">
              <a:buNone/>
            </a:pPr>
            <a:r>
              <a:rPr lang="en-US" sz="900" dirty="0">
                <a:solidFill>
                  <a:srgbClr val="A6ADB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F5FFF"/>
                </a:solidFill>
                <a:latin typeface="Calibri" pitchFamily="34" charset="0"/>
                <a:ea typeface="Calibri" pitchFamily="34" charset="-122"/>
                <a:cs typeface="Calibri" pitchFamily="34" charset="-120"/>
              </a:rPr>
              <a:t>REVENUE MODEL 1</a:t>
            </a:r>
            <a:endParaRPr lang="en-US" sz="1100" dirty="0"/>
          </a:p>
        </p:txBody>
      </p:sp>
      <p:sp>
        <p:nvSpPr>
          <p:cNvPr id="3" name="Text 1"/>
          <p:cNvSpPr/>
          <p:nvPr/>
        </p:nvSpPr>
        <p:spPr>
          <a:xfrm>
            <a:off x="640080" y="658368"/>
            <a:ext cx="10881360" cy="658368"/>
          </a:xfrm>
          <a:prstGeom prst="rect">
            <a:avLst/>
          </a:prstGeom>
          <a:noFill/>
          <a:ln/>
        </p:spPr>
        <p:txBody>
          <a:bodyPr wrap="square" lIns="0" tIns="0" rIns="0" bIns="0" rtlCol="0" anchor="ctr"/>
          <a:lstStyle/>
          <a:p>
            <a:pPr indent="0" marL="0">
              <a:buNone/>
            </a:pPr>
            <a:r>
              <a:rPr lang="en-US" sz="3400" b="1" dirty="0">
                <a:solidFill>
                  <a:srgbClr val="0F1B3D"/>
                </a:solidFill>
                <a:latin typeface="Calibri" pitchFamily="34" charset="0"/>
                <a:ea typeface="Calibri" pitchFamily="34" charset="-122"/>
                <a:cs typeface="Calibri" pitchFamily="34" charset="-120"/>
              </a:rPr>
              <a:t>Subscription access to the pool</a:t>
            </a:r>
            <a:endParaRPr lang="en-US" sz="3400" dirty="0"/>
          </a:p>
        </p:txBody>
      </p:sp>
      <p:sp>
        <p:nvSpPr>
          <p:cNvPr id="4" name="Text 2"/>
          <p:cNvSpPr/>
          <p:nvPr/>
        </p:nvSpPr>
        <p:spPr>
          <a:xfrm>
            <a:off x="640080" y="1335024"/>
            <a:ext cx="10332720" cy="457200"/>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The recurring core. Predictable revenue, and it compounds as the pool grows.</a:t>
            </a:r>
            <a:endParaRPr lang="en-US" sz="1500" dirty="0"/>
          </a:p>
        </p:txBody>
      </p:sp>
      <p:sp>
        <p:nvSpPr>
          <p:cNvPr id="5" name="Shape 3"/>
          <p:cNvSpPr/>
          <p:nvPr/>
        </p:nvSpPr>
        <p:spPr>
          <a:xfrm>
            <a:off x="640080" y="2148840"/>
            <a:ext cx="5120640" cy="3108960"/>
          </a:xfrm>
          <a:prstGeom prst="roundRect">
            <a:avLst>
              <a:gd name="adj" fmla="val 4118"/>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6" name="Text 4"/>
          <p:cNvSpPr/>
          <p:nvPr/>
        </p:nvSpPr>
        <p:spPr>
          <a:xfrm>
            <a:off x="960120" y="2395728"/>
            <a:ext cx="4572000" cy="292608"/>
          </a:xfrm>
          <a:prstGeom prst="rect">
            <a:avLst/>
          </a:prstGeom>
          <a:noFill/>
          <a:ln/>
        </p:spPr>
        <p:txBody>
          <a:bodyPr wrap="square" lIns="0" tIns="0" rIns="0" bIns="0" rtlCol="0" anchor="ctr"/>
          <a:lstStyle/>
          <a:p>
            <a:pPr indent="0" marL="0">
              <a:buNone/>
            </a:pPr>
            <a:r>
              <a:rPr lang="en-US" sz="1600" b="1" dirty="0">
                <a:solidFill>
                  <a:srgbClr val="0F1B3D"/>
                </a:solidFill>
                <a:latin typeface="Calibri" pitchFamily="34" charset="0"/>
                <a:ea typeface="Calibri" pitchFamily="34" charset="-122"/>
                <a:cs typeface="Calibri" pitchFamily="34" charset="-120"/>
              </a:rPr>
              <a:t>What the buyer gets</a:t>
            </a:r>
            <a:endParaRPr lang="en-US" sz="1600" dirty="0"/>
          </a:p>
        </p:txBody>
      </p:sp>
      <p:sp>
        <p:nvSpPr>
          <p:cNvPr id="7" name="Text 5"/>
          <p:cNvSpPr/>
          <p:nvPr/>
        </p:nvSpPr>
        <p:spPr>
          <a:xfrm>
            <a:off x="960120" y="2788920"/>
            <a:ext cx="45720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5B6472"/>
                </a:solidFill>
                <a:latin typeface="Calibri" pitchFamily="34" charset="0"/>
                <a:ea typeface="Calibri" pitchFamily="34" charset="-122"/>
                <a:cs typeface="Calibri" pitchFamily="34" charset="-120"/>
              </a:rPr>
              <a:t>Search and filter the full candidate pool</a:t>
            </a:r>
            <a:endParaRPr lang="en-US" sz="1300" dirty="0"/>
          </a:p>
          <a:p>
            <a:pPr marL="342900" indent="-342900">
              <a:spcAft>
                <a:spcPts val="700"/>
              </a:spcAft>
              <a:buSzPct val="100000"/>
              <a:buChar char="•"/>
            </a:pPr>
            <a:r>
              <a:rPr lang="en-US" sz="1300" dirty="0">
                <a:solidFill>
                  <a:srgbClr val="5B6472"/>
                </a:solidFill>
                <a:latin typeface="Calibri" pitchFamily="34" charset="0"/>
                <a:ea typeface="Calibri" pitchFamily="34" charset="-122"/>
                <a:cs typeface="Calibri" pitchFamily="34" charset="-120"/>
              </a:rPr>
              <a:t>Open and download bilingual CVs</a:t>
            </a:r>
            <a:endParaRPr lang="en-US" sz="1300" dirty="0"/>
          </a:p>
          <a:p>
            <a:pPr marL="342900" indent="-342900">
              <a:spcAft>
                <a:spcPts val="700"/>
              </a:spcAft>
              <a:buSzPct val="100000"/>
              <a:buChar char="•"/>
            </a:pPr>
            <a:r>
              <a:rPr lang="en-US" sz="1300" dirty="0">
                <a:solidFill>
                  <a:srgbClr val="5B6472"/>
                </a:solidFill>
                <a:latin typeface="Calibri" pitchFamily="34" charset="0"/>
                <a:ea typeface="Calibri" pitchFamily="34" charset="-122"/>
                <a:cs typeface="Calibri" pitchFamily="34" charset="-120"/>
              </a:rPr>
              <a:t>Request contact through the platform</a:t>
            </a:r>
            <a:endParaRPr lang="en-US" sz="1300" dirty="0"/>
          </a:p>
          <a:p>
            <a:pPr marL="342900" indent="-342900">
              <a:spcAft>
                <a:spcPts val="700"/>
              </a:spcAft>
              <a:buSzPct val="100000"/>
              <a:buChar char="•"/>
            </a:pPr>
            <a:r>
              <a:rPr lang="en-US" sz="1300" dirty="0">
                <a:solidFill>
                  <a:srgbClr val="5B6472"/>
                </a:solidFill>
                <a:latin typeface="Calibri" pitchFamily="34" charset="0"/>
                <a:ea typeface="Calibri" pitchFamily="34" charset="-122"/>
                <a:cs typeface="Calibri" pitchFamily="34" charset="-120"/>
              </a:rPr>
              <a:t>Saved searches and alerts for new matching profiles</a:t>
            </a:r>
            <a:endParaRPr lang="en-US" sz="1300" dirty="0"/>
          </a:p>
          <a:p>
            <a:pPr marL="342900" indent="-342900">
              <a:spcAft>
                <a:spcPts val="700"/>
              </a:spcAft>
              <a:buSzPct val="100000"/>
              <a:buChar char="•"/>
            </a:pPr>
            <a:r>
              <a:rPr lang="en-US" sz="1300" dirty="0">
                <a:solidFill>
                  <a:srgbClr val="5B6472"/>
                </a:solidFill>
                <a:latin typeface="Calibri" pitchFamily="34" charset="0"/>
                <a:ea typeface="Calibri" pitchFamily="34" charset="-122"/>
                <a:cs typeface="Calibri" pitchFamily="34" charset="-120"/>
              </a:rPr>
              <a:t>Seats for the consultants who need them</a:t>
            </a:r>
            <a:endParaRPr lang="en-US" sz="1300" dirty="0"/>
          </a:p>
        </p:txBody>
      </p:sp>
      <p:sp>
        <p:nvSpPr>
          <p:cNvPr id="8" name="Shape 6"/>
          <p:cNvSpPr/>
          <p:nvPr/>
        </p:nvSpPr>
        <p:spPr>
          <a:xfrm>
            <a:off x="6172200" y="2148840"/>
            <a:ext cx="5074920" cy="3108960"/>
          </a:xfrm>
          <a:prstGeom prst="roundRect">
            <a:avLst>
              <a:gd name="adj" fmla="val 4118"/>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9" name="Text 7"/>
          <p:cNvSpPr/>
          <p:nvPr/>
        </p:nvSpPr>
        <p:spPr>
          <a:xfrm>
            <a:off x="6492240" y="2395728"/>
            <a:ext cx="4572000" cy="292608"/>
          </a:xfrm>
          <a:prstGeom prst="rect">
            <a:avLst/>
          </a:prstGeom>
          <a:noFill/>
          <a:ln/>
        </p:spPr>
        <p:txBody>
          <a:bodyPr wrap="square" lIns="0" tIns="0" rIns="0" bIns="0" rtlCol="0" anchor="ctr"/>
          <a:lstStyle/>
          <a:p>
            <a:pPr indent="0" marL="0">
              <a:buNone/>
            </a:pPr>
            <a:r>
              <a:rPr lang="en-US" sz="1600" b="1" dirty="0">
                <a:solidFill>
                  <a:srgbClr val="0F1B3D"/>
                </a:solidFill>
                <a:latin typeface="Calibri" pitchFamily="34" charset="0"/>
                <a:ea typeface="Calibri" pitchFamily="34" charset="-122"/>
                <a:cs typeface="Calibri" pitchFamily="34" charset="-120"/>
              </a:rPr>
              <a:t>Why it fits this market</a:t>
            </a:r>
            <a:endParaRPr lang="en-US" sz="1600" dirty="0"/>
          </a:p>
        </p:txBody>
      </p:sp>
      <p:sp>
        <p:nvSpPr>
          <p:cNvPr id="10" name="Text 8"/>
          <p:cNvSpPr/>
          <p:nvPr/>
        </p:nvSpPr>
        <p:spPr>
          <a:xfrm>
            <a:off x="6492240" y="2788920"/>
            <a:ext cx="448056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5B6472"/>
                </a:solidFill>
                <a:latin typeface="Calibri" pitchFamily="34" charset="0"/>
                <a:ea typeface="Calibri" pitchFamily="34" charset="-122"/>
                <a:cs typeface="Calibri" pitchFamily="34" charset="-120"/>
              </a:rPr>
              <a:t>Agencies already budget for database and job-board subscriptions</a:t>
            </a:r>
            <a:endParaRPr lang="en-US" sz="1300" dirty="0"/>
          </a:p>
          <a:p>
            <a:pPr marL="342900" indent="-342900">
              <a:spcAft>
                <a:spcPts val="700"/>
              </a:spcAft>
              <a:buSzPct val="100000"/>
              <a:buChar char="•"/>
            </a:pPr>
            <a:r>
              <a:rPr lang="en-US" sz="1300" dirty="0">
                <a:solidFill>
                  <a:srgbClr val="5B6472"/>
                </a:solidFill>
                <a:latin typeface="Calibri" pitchFamily="34" charset="0"/>
                <a:ea typeface="Calibri" pitchFamily="34" charset="-122"/>
                <a:cs typeface="Calibri" pitchFamily="34" charset="-120"/>
              </a:rPr>
              <a:t>Value rises every month as more workers join — churn falls as the pool deepens</a:t>
            </a:r>
            <a:endParaRPr lang="en-US" sz="1300" dirty="0"/>
          </a:p>
          <a:p>
            <a:pPr marL="342900" indent="-342900">
              <a:spcAft>
                <a:spcPts val="700"/>
              </a:spcAft>
              <a:buSzPct val="100000"/>
              <a:buChar char="•"/>
            </a:pPr>
            <a:r>
              <a:rPr lang="en-US" sz="1300" dirty="0">
                <a:solidFill>
                  <a:srgbClr val="5B6472"/>
                </a:solidFill>
                <a:latin typeface="Calibri" pitchFamily="34" charset="0"/>
                <a:ea typeface="Calibri" pitchFamily="34" charset="-122"/>
                <a:cs typeface="Calibri" pitchFamily="34" charset="-120"/>
              </a:rPr>
              <a:t>Tiering is natural: by seats, by regions, or by number of occupations unlocked</a:t>
            </a:r>
            <a:endParaRPr lang="en-US" sz="1300" dirty="0"/>
          </a:p>
          <a:p>
            <a:pPr marL="342900" indent="-342900">
              <a:spcAft>
                <a:spcPts val="700"/>
              </a:spcAft>
              <a:buSzPct val="100000"/>
              <a:buChar char="•"/>
            </a:pPr>
            <a:r>
              <a:rPr lang="en-US" sz="1300" dirty="0">
                <a:solidFill>
                  <a:srgbClr val="5B6472"/>
                </a:solidFill>
                <a:latin typeface="Calibri" pitchFamily="34" charset="0"/>
                <a:ea typeface="Calibri" pitchFamily="34" charset="-122"/>
                <a:cs typeface="Calibri" pitchFamily="34" charset="-120"/>
              </a:rPr>
              <a:t>Sales motion is familiar to their procurement teams</a:t>
            </a:r>
            <a:endParaRPr lang="en-US" sz="1300" dirty="0"/>
          </a:p>
        </p:txBody>
      </p:sp>
      <p:sp>
        <p:nvSpPr>
          <p:cNvPr id="11" name="Text 9"/>
          <p:cNvSpPr/>
          <p:nvPr/>
        </p:nvSpPr>
        <p:spPr>
          <a:xfrm>
            <a:off x="640080" y="6400800"/>
            <a:ext cx="1828800" cy="228600"/>
          </a:xfrm>
          <a:prstGeom prst="rect">
            <a:avLst/>
          </a:prstGeom>
          <a:noFill/>
          <a:ln/>
        </p:spPr>
        <p:txBody>
          <a:bodyPr wrap="square" lIns="0" tIns="0" rIns="0" bIns="0" rtlCol="0" anchor="ctr"/>
          <a:lstStyle/>
          <a:p>
            <a:pPr indent="0" marL="0">
              <a:buNone/>
            </a:pPr>
            <a:r>
              <a:rPr lang="en-US" sz="900" dirty="0">
                <a:solidFill>
                  <a:srgbClr val="A6ADB8"/>
                </a:solidFill>
                <a:latin typeface="Calibri" pitchFamily="34" charset="0"/>
                <a:ea typeface="Calibri" pitchFamily="34" charset="-122"/>
                <a:cs typeface="Calibri" pitchFamily="34" charset="-120"/>
              </a:rPr>
              <a:t>Naatiq</a:t>
            </a:r>
            <a:endParaRPr lang="en-US" sz="900" dirty="0"/>
          </a:p>
        </p:txBody>
      </p:sp>
      <p:sp>
        <p:nvSpPr>
          <p:cNvPr id="12" name="Text 10"/>
          <p:cNvSpPr/>
          <p:nvPr/>
        </p:nvSpPr>
        <p:spPr>
          <a:xfrm>
            <a:off x="10607040" y="6400800"/>
            <a:ext cx="914400" cy="228600"/>
          </a:xfrm>
          <a:prstGeom prst="rect">
            <a:avLst/>
          </a:prstGeom>
          <a:noFill/>
          <a:ln/>
        </p:spPr>
        <p:txBody>
          <a:bodyPr wrap="square" lIns="0" tIns="0" rIns="0" bIns="0" rtlCol="0" anchor="ctr"/>
          <a:lstStyle/>
          <a:p>
            <a:pPr algn="r" indent="0" marL="0">
              <a:buNone/>
            </a:pPr>
            <a:r>
              <a:rPr lang="en-US" sz="900" dirty="0">
                <a:solidFill>
                  <a:srgbClr val="A6ADB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F5FFF"/>
                </a:solidFill>
                <a:latin typeface="Calibri" pitchFamily="34" charset="0"/>
                <a:ea typeface="Calibri" pitchFamily="34" charset="-122"/>
                <a:cs typeface="Calibri" pitchFamily="34" charset="-120"/>
              </a:rPr>
              <a:t>REVENUE MODEL 2</a:t>
            </a:r>
            <a:endParaRPr lang="en-US" sz="1100" dirty="0"/>
          </a:p>
        </p:txBody>
      </p:sp>
      <p:sp>
        <p:nvSpPr>
          <p:cNvPr id="3" name="Text 1"/>
          <p:cNvSpPr/>
          <p:nvPr/>
        </p:nvSpPr>
        <p:spPr>
          <a:xfrm>
            <a:off x="640080" y="658368"/>
            <a:ext cx="10881360" cy="658368"/>
          </a:xfrm>
          <a:prstGeom prst="rect">
            <a:avLst/>
          </a:prstGeom>
          <a:noFill/>
          <a:ln/>
        </p:spPr>
        <p:txBody>
          <a:bodyPr wrap="square" lIns="0" tIns="0" rIns="0" bIns="0" rtlCol="0" anchor="ctr"/>
          <a:lstStyle/>
          <a:p>
            <a:pPr indent="0" marL="0">
              <a:buNone/>
            </a:pPr>
            <a:r>
              <a:rPr lang="en-US" sz="3400" b="1" dirty="0">
                <a:solidFill>
                  <a:srgbClr val="0F1B3D"/>
                </a:solidFill>
                <a:latin typeface="Calibri" pitchFamily="34" charset="0"/>
                <a:ea typeface="Calibri" pitchFamily="34" charset="-122"/>
                <a:cs typeface="Calibri" pitchFamily="34" charset="-120"/>
              </a:rPr>
              <a:t>One-time payment per occupation</a:t>
            </a:r>
            <a:endParaRPr lang="en-US" sz="3400" dirty="0"/>
          </a:p>
        </p:txBody>
      </p:sp>
      <p:sp>
        <p:nvSpPr>
          <p:cNvPr id="4" name="Text 2"/>
          <p:cNvSpPr/>
          <p:nvPr/>
        </p:nvSpPr>
        <p:spPr>
          <a:xfrm>
            <a:off x="640080" y="1335024"/>
            <a:ext cx="10332720" cy="457200"/>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The entry point. Lets a buyer start without a committee, and creates a natural upgrade path.</a:t>
            </a:r>
            <a:endParaRPr lang="en-US" sz="1500" dirty="0"/>
          </a:p>
        </p:txBody>
      </p:sp>
      <p:sp>
        <p:nvSpPr>
          <p:cNvPr id="5" name="Shape 3"/>
          <p:cNvSpPr/>
          <p:nvPr/>
        </p:nvSpPr>
        <p:spPr>
          <a:xfrm>
            <a:off x="640080" y="2148840"/>
            <a:ext cx="5120640" cy="3108960"/>
          </a:xfrm>
          <a:prstGeom prst="roundRect">
            <a:avLst>
              <a:gd name="adj" fmla="val 4118"/>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6" name="Text 4"/>
          <p:cNvSpPr/>
          <p:nvPr/>
        </p:nvSpPr>
        <p:spPr>
          <a:xfrm>
            <a:off x="960120" y="2395728"/>
            <a:ext cx="4572000" cy="292608"/>
          </a:xfrm>
          <a:prstGeom prst="rect">
            <a:avLst/>
          </a:prstGeom>
          <a:noFill/>
          <a:ln/>
        </p:spPr>
        <p:txBody>
          <a:bodyPr wrap="square" lIns="0" tIns="0" rIns="0" bIns="0" rtlCol="0" anchor="ctr"/>
          <a:lstStyle/>
          <a:p>
            <a:pPr indent="0" marL="0">
              <a:buNone/>
            </a:pPr>
            <a:r>
              <a:rPr lang="en-US" sz="1600" b="1" dirty="0">
                <a:solidFill>
                  <a:srgbClr val="0F1B3D"/>
                </a:solidFill>
                <a:latin typeface="Calibri" pitchFamily="34" charset="0"/>
                <a:ea typeface="Calibri" pitchFamily="34" charset="-122"/>
                <a:cs typeface="Calibri" pitchFamily="34" charset="-120"/>
              </a:rPr>
              <a:t>How it works</a:t>
            </a:r>
            <a:endParaRPr lang="en-US" sz="1600" dirty="0"/>
          </a:p>
        </p:txBody>
      </p:sp>
      <p:sp>
        <p:nvSpPr>
          <p:cNvPr id="7" name="Text 5"/>
          <p:cNvSpPr/>
          <p:nvPr/>
        </p:nvSpPr>
        <p:spPr>
          <a:xfrm>
            <a:off x="960120" y="2788920"/>
            <a:ext cx="45720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5B6472"/>
                </a:solidFill>
                <a:latin typeface="Calibri" pitchFamily="34" charset="0"/>
                <a:ea typeface="Calibri" pitchFamily="34" charset="-122"/>
                <a:cs typeface="Calibri" pitchFamily="34" charset="-120"/>
              </a:rPr>
              <a:t>The buyer unlocks a single occupation — drivers, cooks, electricians</a:t>
            </a:r>
            <a:endParaRPr lang="en-US" sz="1300" dirty="0"/>
          </a:p>
          <a:p>
            <a:pPr marL="342900" indent="-342900">
              <a:spcAft>
                <a:spcPts val="700"/>
              </a:spcAft>
              <a:buSzPct val="100000"/>
              <a:buChar char="•"/>
            </a:pPr>
            <a:r>
              <a:rPr lang="en-US" sz="1300" dirty="0">
                <a:solidFill>
                  <a:srgbClr val="5B6472"/>
                </a:solidFill>
                <a:latin typeface="Calibri" pitchFamily="34" charset="0"/>
                <a:ea typeface="Calibri" pitchFamily="34" charset="-122"/>
                <a:cs typeface="Calibri" pitchFamily="34" charset="-120"/>
              </a:rPr>
              <a:t>Full access to every candidate in that category, for a fixed window</a:t>
            </a:r>
            <a:endParaRPr lang="en-US" sz="1300" dirty="0"/>
          </a:p>
          <a:p>
            <a:pPr marL="342900" indent="-342900">
              <a:spcAft>
                <a:spcPts val="700"/>
              </a:spcAft>
              <a:buSzPct val="100000"/>
              <a:buChar char="•"/>
            </a:pPr>
            <a:r>
              <a:rPr lang="en-US" sz="1300" dirty="0">
                <a:solidFill>
                  <a:srgbClr val="5B6472"/>
                </a:solidFill>
                <a:latin typeface="Calibri" pitchFamily="34" charset="0"/>
                <a:ea typeface="Calibri" pitchFamily="34" charset="-122"/>
                <a:cs typeface="Calibri" pitchFamily="34" charset="-120"/>
              </a:rPr>
              <a:t>No subscription, no negotiation, no procurement cycle</a:t>
            </a:r>
            <a:endParaRPr lang="en-US" sz="1300" dirty="0"/>
          </a:p>
          <a:p>
            <a:pPr marL="342900" indent="-342900">
              <a:spcAft>
                <a:spcPts val="700"/>
              </a:spcAft>
              <a:buSzPct val="100000"/>
              <a:buChar char="•"/>
            </a:pPr>
            <a:r>
              <a:rPr lang="en-US" sz="1300" dirty="0">
                <a:solidFill>
                  <a:srgbClr val="5B6472"/>
                </a:solidFill>
                <a:latin typeface="Calibri" pitchFamily="34" charset="0"/>
                <a:ea typeface="Calibri" pitchFamily="34" charset="-122"/>
                <a:cs typeface="Calibri" pitchFamily="34" charset="-120"/>
              </a:rPr>
              <a:t>Unlocks credit toward an annual plan if they convert</a:t>
            </a:r>
            <a:endParaRPr lang="en-US" sz="1300" dirty="0"/>
          </a:p>
        </p:txBody>
      </p:sp>
      <p:sp>
        <p:nvSpPr>
          <p:cNvPr id="8" name="Shape 6"/>
          <p:cNvSpPr/>
          <p:nvPr/>
        </p:nvSpPr>
        <p:spPr>
          <a:xfrm>
            <a:off x="6172200" y="2148840"/>
            <a:ext cx="5074920" cy="3108960"/>
          </a:xfrm>
          <a:prstGeom prst="roundRect">
            <a:avLst>
              <a:gd name="adj" fmla="val 4118"/>
            </a:avLst>
          </a:prstGeom>
          <a:solidFill>
            <a:srgbClr val="0F1B3D"/>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9" name="Text 7"/>
          <p:cNvSpPr/>
          <p:nvPr/>
        </p:nvSpPr>
        <p:spPr>
          <a:xfrm>
            <a:off x="6492240" y="2395728"/>
            <a:ext cx="4572000" cy="29260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Why it earns its place</a:t>
            </a:r>
            <a:endParaRPr lang="en-US" sz="1600" dirty="0"/>
          </a:p>
        </p:txBody>
      </p:sp>
      <p:sp>
        <p:nvSpPr>
          <p:cNvPr id="10" name="Text 8"/>
          <p:cNvSpPr/>
          <p:nvPr/>
        </p:nvSpPr>
        <p:spPr>
          <a:xfrm>
            <a:off x="6492240" y="2788920"/>
            <a:ext cx="448056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BFCCE5"/>
                </a:solidFill>
                <a:latin typeface="Calibri" pitchFamily="34" charset="0"/>
                <a:ea typeface="Calibri" pitchFamily="34" charset="-122"/>
                <a:cs typeface="Calibri" pitchFamily="34" charset="-120"/>
              </a:rPr>
              <a:t>Removes the biggest objection: paying for a pool before seeing it</a:t>
            </a:r>
            <a:endParaRPr lang="en-US" sz="1300" dirty="0"/>
          </a:p>
          <a:p>
            <a:pPr marL="342900" indent="-342900">
              <a:spcAft>
                <a:spcPts val="700"/>
              </a:spcAft>
              <a:buSzPct val="100000"/>
              <a:buChar char="•"/>
            </a:pPr>
            <a:r>
              <a:rPr lang="en-US" sz="1300" dirty="0">
                <a:solidFill>
                  <a:srgbClr val="BFCCE5"/>
                </a:solidFill>
                <a:latin typeface="Calibri" pitchFamily="34" charset="0"/>
                <a:ea typeface="Calibri" pitchFamily="34" charset="-122"/>
                <a:cs typeface="Calibri" pitchFamily="34" charset="-120"/>
              </a:rPr>
              <a:t>Matches how staffing demand actually arrives — one urgent role at a time</a:t>
            </a:r>
            <a:endParaRPr lang="en-US" sz="1300" dirty="0"/>
          </a:p>
          <a:p>
            <a:pPr marL="342900" indent="-342900">
              <a:spcAft>
                <a:spcPts val="700"/>
              </a:spcAft>
              <a:buSzPct val="100000"/>
              <a:buChar char="•"/>
            </a:pPr>
            <a:r>
              <a:rPr lang="en-US" sz="1300" dirty="0">
                <a:solidFill>
                  <a:srgbClr val="BFCCE5"/>
                </a:solidFill>
                <a:latin typeface="Calibri" pitchFamily="34" charset="0"/>
                <a:ea typeface="Calibri" pitchFamily="34" charset="-122"/>
                <a:cs typeface="Calibri" pitchFamily="34" charset="-120"/>
              </a:rPr>
              <a:t>Reveals which occupations a buyer needs, which is the data that prices their renewal</a:t>
            </a:r>
            <a:endParaRPr lang="en-US" sz="1300" dirty="0"/>
          </a:p>
          <a:p>
            <a:pPr marL="342900" indent="-342900">
              <a:spcAft>
                <a:spcPts val="700"/>
              </a:spcAft>
              <a:buSzPct val="100000"/>
              <a:buChar char="•"/>
            </a:pPr>
            <a:r>
              <a:rPr lang="en-US" sz="1300" dirty="0">
                <a:solidFill>
                  <a:srgbClr val="BFCCE5"/>
                </a:solidFill>
                <a:latin typeface="Calibri" pitchFamily="34" charset="0"/>
                <a:ea typeface="Calibri" pitchFamily="34" charset="-122"/>
                <a:cs typeface="Calibri" pitchFamily="34" charset="-120"/>
              </a:rPr>
              <a:t>Works for small employers and families who will never buy a seat licence</a:t>
            </a:r>
            <a:endParaRPr lang="en-US" sz="1300" dirty="0"/>
          </a:p>
        </p:txBody>
      </p:sp>
      <p:sp>
        <p:nvSpPr>
          <p:cNvPr id="11" name="Text 9"/>
          <p:cNvSpPr/>
          <p:nvPr/>
        </p:nvSpPr>
        <p:spPr>
          <a:xfrm>
            <a:off x="640080" y="6400800"/>
            <a:ext cx="1828800" cy="228600"/>
          </a:xfrm>
          <a:prstGeom prst="rect">
            <a:avLst/>
          </a:prstGeom>
          <a:noFill/>
          <a:ln/>
        </p:spPr>
        <p:txBody>
          <a:bodyPr wrap="square" lIns="0" tIns="0" rIns="0" bIns="0" rtlCol="0" anchor="ctr"/>
          <a:lstStyle/>
          <a:p>
            <a:pPr indent="0" marL="0">
              <a:buNone/>
            </a:pPr>
            <a:r>
              <a:rPr lang="en-US" sz="900" dirty="0">
                <a:solidFill>
                  <a:srgbClr val="A6ADB8"/>
                </a:solidFill>
                <a:latin typeface="Calibri" pitchFamily="34" charset="0"/>
                <a:ea typeface="Calibri" pitchFamily="34" charset="-122"/>
                <a:cs typeface="Calibri" pitchFamily="34" charset="-120"/>
              </a:rPr>
              <a:t>Naatiq</a:t>
            </a:r>
            <a:endParaRPr lang="en-US" sz="900" dirty="0"/>
          </a:p>
        </p:txBody>
      </p:sp>
      <p:sp>
        <p:nvSpPr>
          <p:cNvPr id="12" name="Text 10"/>
          <p:cNvSpPr/>
          <p:nvPr/>
        </p:nvSpPr>
        <p:spPr>
          <a:xfrm>
            <a:off x="10607040" y="6400800"/>
            <a:ext cx="914400" cy="228600"/>
          </a:xfrm>
          <a:prstGeom prst="rect">
            <a:avLst/>
          </a:prstGeom>
          <a:noFill/>
          <a:ln/>
        </p:spPr>
        <p:txBody>
          <a:bodyPr wrap="square" lIns="0" tIns="0" rIns="0" bIns="0" rtlCol="0" anchor="ctr"/>
          <a:lstStyle/>
          <a:p>
            <a:pPr algn="r" indent="0" marL="0">
              <a:buNone/>
            </a:pPr>
            <a:r>
              <a:rPr lang="en-US" sz="900" dirty="0">
                <a:solidFill>
                  <a:srgbClr val="A6ADB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F5FFF"/>
                </a:solidFill>
                <a:latin typeface="Calibri" pitchFamily="34" charset="0"/>
                <a:ea typeface="Calibri" pitchFamily="34" charset="-122"/>
                <a:cs typeface="Calibri" pitchFamily="34" charset="-120"/>
              </a:rPr>
              <a:t>BEYOND ACCESS</a:t>
            </a:r>
            <a:endParaRPr lang="en-US" sz="1100" dirty="0"/>
          </a:p>
        </p:txBody>
      </p:sp>
      <p:sp>
        <p:nvSpPr>
          <p:cNvPr id="3" name="Text 1"/>
          <p:cNvSpPr/>
          <p:nvPr/>
        </p:nvSpPr>
        <p:spPr>
          <a:xfrm>
            <a:off x="640080" y="658368"/>
            <a:ext cx="10881360" cy="658368"/>
          </a:xfrm>
          <a:prstGeom prst="rect">
            <a:avLst/>
          </a:prstGeom>
          <a:noFill/>
          <a:ln/>
        </p:spPr>
        <p:txBody>
          <a:bodyPr wrap="square" lIns="0" tIns="0" rIns="0" bIns="0" rtlCol="0" anchor="ctr"/>
          <a:lstStyle/>
          <a:p>
            <a:pPr indent="0" marL="0">
              <a:buNone/>
            </a:pPr>
            <a:r>
              <a:rPr lang="en-US" sz="3400" b="1" dirty="0">
                <a:solidFill>
                  <a:srgbClr val="0F1B3D"/>
                </a:solidFill>
                <a:latin typeface="Calibri" pitchFamily="34" charset="0"/>
                <a:ea typeface="Calibri" pitchFamily="34" charset="-122"/>
                <a:cs typeface="Calibri" pitchFamily="34" charset="-120"/>
              </a:rPr>
              <a:t>Additional revenue streams — commercial</a:t>
            </a:r>
            <a:endParaRPr lang="en-US" sz="3400" dirty="0"/>
          </a:p>
        </p:txBody>
      </p:sp>
      <p:sp>
        <p:nvSpPr>
          <p:cNvPr id="4" name="Shape 2"/>
          <p:cNvSpPr/>
          <p:nvPr/>
        </p:nvSpPr>
        <p:spPr>
          <a:xfrm>
            <a:off x="640080" y="2057400"/>
            <a:ext cx="3429000" cy="1600200"/>
          </a:xfrm>
          <a:prstGeom prst="roundRect">
            <a:avLst>
              <a:gd name="adj" fmla="val 8000"/>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5" name="Shape 3"/>
          <p:cNvSpPr/>
          <p:nvPr/>
        </p:nvSpPr>
        <p:spPr>
          <a:xfrm>
            <a:off x="896112" y="2313432"/>
            <a:ext cx="384048" cy="384048"/>
          </a:xfrm>
          <a:prstGeom prst="ellipse">
            <a:avLst/>
          </a:prstGeom>
          <a:solidFill>
            <a:srgbClr val="2F5FFF"/>
          </a:solidFill>
          <a:ln w="12700">
            <a:solidFill>
              <a:srgbClr val="2F5FFF"/>
            </a:solidFill>
            <a:prstDash val="solid"/>
          </a:ln>
        </p:spPr>
      </p:sp>
      <p:sp>
        <p:nvSpPr>
          <p:cNvPr id="6" name="Text 4"/>
          <p:cNvSpPr/>
          <p:nvPr/>
        </p:nvSpPr>
        <p:spPr>
          <a:xfrm>
            <a:off x="896112" y="23134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896112" y="2807208"/>
            <a:ext cx="2926080" cy="274320"/>
          </a:xfrm>
          <a:prstGeom prst="rect">
            <a:avLst/>
          </a:prstGeom>
          <a:noFill/>
          <a:ln/>
        </p:spPr>
        <p:txBody>
          <a:bodyPr wrap="square" lIns="0" tIns="0" rIns="0" bIns="0" rtlCol="0" anchor="ctr"/>
          <a:lstStyle/>
          <a:p>
            <a:pPr indent="0" marL="0">
              <a:buNone/>
            </a:pPr>
            <a:r>
              <a:rPr lang="en-US" sz="1450" b="1" dirty="0">
                <a:solidFill>
                  <a:srgbClr val="0F1B3D"/>
                </a:solidFill>
                <a:latin typeface="Calibri" pitchFamily="34" charset="0"/>
                <a:ea typeface="Calibri" pitchFamily="34" charset="-122"/>
                <a:cs typeface="Calibri" pitchFamily="34" charset="-120"/>
              </a:rPr>
              <a:t>Placement success fee</a:t>
            </a:r>
            <a:endParaRPr lang="en-US" sz="1450" dirty="0"/>
          </a:p>
        </p:txBody>
      </p:sp>
      <p:sp>
        <p:nvSpPr>
          <p:cNvPr id="8" name="Text 6"/>
          <p:cNvSpPr/>
          <p:nvPr/>
        </p:nvSpPr>
        <p:spPr>
          <a:xfrm>
            <a:off x="896112" y="3099816"/>
            <a:ext cx="2971800" cy="50292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A fee on confirmed hires. Aligns revenue with the outcome the client actually buys.</a:t>
            </a:r>
            <a:endParaRPr lang="en-US" sz="1150" dirty="0"/>
          </a:p>
        </p:txBody>
      </p:sp>
      <p:sp>
        <p:nvSpPr>
          <p:cNvPr id="9" name="Shape 7"/>
          <p:cNvSpPr/>
          <p:nvPr/>
        </p:nvSpPr>
        <p:spPr>
          <a:xfrm>
            <a:off x="4343400" y="2057400"/>
            <a:ext cx="3429000" cy="1600200"/>
          </a:xfrm>
          <a:prstGeom prst="roundRect">
            <a:avLst>
              <a:gd name="adj" fmla="val 8000"/>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10" name="Shape 8"/>
          <p:cNvSpPr/>
          <p:nvPr/>
        </p:nvSpPr>
        <p:spPr>
          <a:xfrm>
            <a:off x="4599432" y="2313432"/>
            <a:ext cx="384048" cy="384048"/>
          </a:xfrm>
          <a:prstGeom prst="ellipse">
            <a:avLst/>
          </a:prstGeom>
          <a:solidFill>
            <a:srgbClr val="2F5FFF"/>
          </a:solidFill>
          <a:ln w="12700">
            <a:solidFill>
              <a:srgbClr val="2F5FFF"/>
            </a:solidFill>
            <a:prstDash val="solid"/>
          </a:ln>
        </p:spPr>
      </p:sp>
      <p:sp>
        <p:nvSpPr>
          <p:cNvPr id="11" name="Text 9"/>
          <p:cNvSpPr/>
          <p:nvPr/>
        </p:nvSpPr>
        <p:spPr>
          <a:xfrm>
            <a:off x="4599432" y="23134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4599432" y="2807208"/>
            <a:ext cx="2926080" cy="274320"/>
          </a:xfrm>
          <a:prstGeom prst="rect">
            <a:avLst/>
          </a:prstGeom>
          <a:noFill/>
          <a:ln/>
        </p:spPr>
        <p:txBody>
          <a:bodyPr wrap="square" lIns="0" tIns="0" rIns="0" bIns="0" rtlCol="0" anchor="ctr"/>
          <a:lstStyle/>
          <a:p>
            <a:pPr indent="0" marL="0">
              <a:buNone/>
            </a:pPr>
            <a:r>
              <a:rPr lang="en-US" sz="1450" b="1" dirty="0">
                <a:solidFill>
                  <a:srgbClr val="0F1B3D"/>
                </a:solidFill>
                <a:latin typeface="Calibri" pitchFamily="34" charset="0"/>
                <a:ea typeface="Calibri" pitchFamily="34" charset="-122"/>
                <a:cs typeface="Calibri" pitchFamily="34" charset="-120"/>
              </a:rPr>
              <a:t>Verification tier</a:t>
            </a:r>
            <a:endParaRPr lang="en-US" sz="1450" dirty="0"/>
          </a:p>
        </p:txBody>
      </p:sp>
      <p:sp>
        <p:nvSpPr>
          <p:cNvPr id="13" name="Text 11"/>
          <p:cNvSpPr/>
          <p:nvPr/>
        </p:nvSpPr>
        <p:spPr>
          <a:xfrm>
            <a:off x="4599432" y="3099816"/>
            <a:ext cx="2971800" cy="50292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Paid checks on references, documents and prior employers. Sold as a premium badge on the profile.</a:t>
            </a:r>
            <a:endParaRPr lang="en-US" sz="1150" dirty="0"/>
          </a:p>
        </p:txBody>
      </p:sp>
      <p:sp>
        <p:nvSpPr>
          <p:cNvPr id="14" name="Shape 12"/>
          <p:cNvSpPr/>
          <p:nvPr/>
        </p:nvSpPr>
        <p:spPr>
          <a:xfrm>
            <a:off x="8046720" y="2057400"/>
            <a:ext cx="3429000" cy="1600200"/>
          </a:xfrm>
          <a:prstGeom prst="roundRect">
            <a:avLst>
              <a:gd name="adj" fmla="val 8000"/>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15" name="Shape 13"/>
          <p:cNvSpPr/>
          <p:nvPr/>
        </p:nvSpPr>
        <p:spPr>
          <a:xfrm>
            <a:off x="8302752" y="2313432"/>
            <a:ext cx="384048" cy="384048"/>
          </a:xfrm>
          <a:prstGeom prst="ellipse">
            <a:avLst/>
          </a:prstGeom>
          <a:solidFill>
            <a:srgbClr val="2F5FFF"/>
          </a:solidFill>
          <a:ln w="12700">
            <a:solidFill>
              <a:srgbClr val="2F5FFF"/>
            </a:solidFill>
            <a:prstDash val="solid"/>
          </a:ln>
        </p:spPr>
      </p:sp>
      <p:sp>
        <p:nvSpPr>
          <p:cNvPr id="16" name="Text 14"/>
          <p:cNvSpPr/>
          <p:nvPr/>
        </p:nvSpPr>
        <p:spPr>
          <a:xfrm>
            <a:off x="8302752" y="23134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8302752" y="2807208"/>
            <a:ext cx="2926080" cy="274320"/>
          </a:xfrm>
          <a:prstGeom prst="rect">
            <a:avLst/>
          </a:prstGeom>
          <a:noFill/>
          <a:ln/>
        </p:spPr>
        <p:txBody>
          <a:bodyPr wrap="square" lIns="0" tIns="0" rIns="0" bIns="0" rtlCol="0" anchor="ctr"/>
          <a:lstStyle/>
          <a:p>
            <a:pPr indent="0" marL="0">
              <a:buNone/>
            </a:pPr>
            <a:r>
              <a:rPr lang="en-US" sz="1450" b="1" dirty="0">
                <a:solidFill>
                  <a:srgbClr val="0F1B3D"/>
                </a:solidFill>
                <a:latin typeface="Calibri" pitchFamily="34" charset="0"/>
                <a:ea typeface="Calibri" pitchFamily="34" charset="-122"/>
                <a:cs typeface="Calibri" pitchFamily="34" charset="-120"/>
              </a:rPr>
              <a:t>White-label and API</a:t>
            </a:r>
            <a:endParaRPr lang="en-US" sz="1450" dirty="0"/>
          </a:p>
        </p:txBody>
      </p:sp>
      <p:sp>
        <p:nvSpPr>
          <p:cNvPr id="18" name="Text 16"/>
          <p:cNvSpPr/>
          <p:nvPr/>
        </p:nvSpPr>
        <p:spPr>
          <a:xfrm>
            <a:off x="8302752" y="3099816"/>
            <a:ext cx="2971800" cy="50292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Agencies and job boards embed the intake agent in their own funnel under their own brand.</a:t>
            </a:r>
            <a:endParaRPr lang="en-US" sz="1150" dirty="0"/>
          </a:p>
        </p:txBody>
      </p:sp>
      <p:sp>
        <p:nvSpPr>
          <p:cNvPr id="19" name="Shape 17"/>
          <p:cNvSpPr/>
          <p:nvPr/>
        </p:nvSpPr>
        <p:spPr>
          <a:xfrm>
            <a:off x="640080" y="3840480"/>
            <a:ext cx="3429000" cy="1600200"/>
          </a:xfrm>
          <a:prstGeom prst="roundRect">
            <a:avLst>
              <a:gd name="adj" fmla="val 8000"/>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20" name="Shape 18"/>
          <p:cNvSpPr/>
          <p:nvPr/>
        </p:nvSpPr>
        <p:spPr>
          <a:xfrm>
            <a:off x="896112" y="4096512"/>
            <a:ext cx="384048" cy="384048"/>
          </a:xfrm>
          <a:prstGeom prst="ellipse">
            <a:avLst/>
          </a:prstGeom>
          <a:solidFill>
            <a:srgbClr val="2F5FFF"/>
          </a:solidFill>
          <a:ln w="12700">
            <a:solidFill>
              <a:srgbClr val="2F5FFF"/>
            </a:solidFill>
            <a:prstDash val="solid"/>
          </a:ln>
        </p:spPr>
      </p:sp>
      <p:sp>
        <p:nvSpPr>
          <p:cNvPr id="21" name="Text 19"/>
          <p:cNvSpPr/>
          <p:nvPr/>
        </p:nvSpPr>
        <p:spPr>
          <a:xfrm>
            <a:off x="896112" y="40965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896112" y="4590288"/>
            <a:ext cx="2926080" cy="274320"/>
          </a:xfrm>
          <a:prstGeom prst="rect">
            <a:avLst/>
          </a:prstGeom>
          <a:noFill/>
          <a:ln/>
        </p:spPr>
        <p:txBody>
          <a:bodyPr wrap="square" lIns="0" tIns="0" rIns="0" bIns="0" rtlCol="0" anchor="ctr"/>
          <a:lstStyle/>
          <a:p>
            <a:pPr indent="0" marL="0">
              <a:buNone/>
            </a:pPr>
            <a:r>
              <a:rPr lang="en-US" sz="1450" b="1" dirty="0">
                <a:solidFill>
                  <a:srgbClr val="0F1B3D"/>
                </a:solidFill>
                <a:latin typeface="Calibri" pitchFamily="34" charset="0"/>
                <a:ea typeface="Calibri" pitchFamily="34" charset="-122"/>
                <a:cs typeface="Calibri" pitchFamily="34" charset="-120"/>
              </a:rPr>
              <a:t>Branded intake funnels</a:t>
            </a:r>
            <a:endParaRPr lang="en-US" sz="1450" dirty="0"/>
          </a:p>
        </p:txBody>
      </p:sp>
      <p:sp>
        <p:nvSpPr>
          <p:cNvPr id="23" name="Text 21"/>
          <p:cNvSpPr/>
          <p:nvPr/>
        </p:nvSpPr>
        <p:spPr>
          <a:xfrm>
            <a:off x="896112" y="4882896"/>
            <a:ext cx="2971800" cy="50292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A client's own WhatsApp link; they pay per profile created into their private pool.</a:t>
            </a:r>
            <a:endParaRPr lang="en-US" sz="1150" dirty="0"/>
          </a:p>
        </p:txBody>
      </p:sp>
      <p:sp>
        <p:nvSpPr>
          <p:cNvPr id="24" name="Shape 22"/>
          <p:cNvSpPr/>
          <p:nvPr/>
        </p:nvSpPr>
        <p:spPr>
          <a:xfrm>
            <a:off x="4343400" y="3840480"/>
            <a:ext cx="3429000" cy="1600200"/>
          </a:xfrm>
          <a:prstGeom prst="roundRect">
            <a:avLst>
              <a:gd name="adj" fmla="val 8000"/>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25" name="Shape 23"/>
          <p:cNvSpPr/>
          <p:nvPr/>
        </p:nvSpPr>
        <p:spPr>
          <a:xfrm>
            <a:off x="4599432" y="4096512"/>
            <a:ext cx="384048" cy="384048"/>
          </a:xfrm>
          <a:prstGeom prst="ellipse">
            <a:avLst/>
          </a:prstGeom>
          <a:solidFill>
            <a:srgbClr val="2F5FFF"/>
          </a:solidFill>
          <a:ln w="12700">
            <a:solidFill>
              <a:srgbClr val="2F5FFF"/>
            </a:solidFill>
            <a:prstDash val="solid"/>
          </a:ln>
        </p:spPr>
      </p:sp>
      <p:sp>
        <p:nvSpPr>
          <p:cNvPr id="26" name="Text 24"/>
          <p:cNvSpPr/>
          <p:nvPr/>
        </p:nvSpPr>
        <p:spPr>
          <a:xfrm>
            <a:off x="4599432" y="40965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4599432" y="4590288"/>
            <a:ext cx="2926080" cy="274320"/>
          </a:xfrm>
          <a:prstGeom prst="rect">
            <a:avLst/>
          </a:prstGeom>
          <a:noFill/>
          <a:ln/>
        </p:spPr>
        <p:txBody>
          <a:bodyPr wrap="square" lIns="0" tIns="0" rIns="0" bIns="0" rtlCol="0" anchor="ctr"/>
          <a:lstStyle/>
          <a:p>
            <a:pPr indent="0" marL="0">
              <a:buNone/>
            </a:pPr>
            <a:r>
              <a:rPr lang="en-US" sz="1450" b="1" dirty="0">
                <a:solidFill>
                  <a:srgbClr val="0F1B3D"/>
                </a:solidFill>
                <a:latin typeface="Calibri" pitchFamily="34" charset="0"/>
                <a:ea typeface="Calibri" pitchFamily="34" charset="-122"/>
                <a:cs typeface="Calibri" pitchFamily="34" charset="-120"/>
              </a:rPr>
              <a:t>Database enrichment</a:t>
            </a:r>
            <a:endParaRPr lang="en-US" sz="1450" dirty="0"/>
          </a:p>
        </p:txBody>
      </p:sp>
      <p:sp>
        <p:nvSpPr>
          <p:cNvPr id="28" name="Text 26"/>
          <p:cNvSpPr/>
          <p:nvPr/>
        </p:nvSpPr>
        <p:spPr>
          <a:xfrm>
            <a:off x="4599432" y="4882896"/>
            <a:ext cx="2971800" cy="50292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Run an agency's existing unstructured candidate records through the agent to standardise them.</a:t>
            </a:r>
            <a:endParaRPr lang="en-US" sz="1150" dirty="0"/>
          </a:p>
        </p:txBody>
      </p:sp>
      <p:sp>
        <p:nvSpPr>
          <p:cNvPr id="29" name="Shape 27"/>
          <p:cNvSpPr/>
          <p:nvPr/>
        </p:nvSpPr>
        <p:spPr>
          <a:xfrm>
            <a:off x="8046720" y="3840480"/>
            <a:ext cx="3429000" cy="1600200"/>
          </a:xfrm>
          <a:prstGeom prst="roundRect">
            <a:avLst>
              <a:gd name="adj" fmla="val 8000"/>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30" name="Shape 28"/>
          <p:cNvSpPr/>
          <p:nvPr/>
        </p:nvSpPr>
        <p:spPr>
          <a:xfrm>
            <a:off x="8302752" y="4096512"/>
            <a:ext cx="384048" cy="384048"/>
          </a:xfrm>
          <a:prstGeom prst="ellipse">
            <a:avLst/>
          </a:prstGeom>
          <a:solidFill>
            <a:srgbClr val="2F5FFF"/>
          </a:solidFill>
          <a:ln w="12700">
            <a:solidFill>
              <a:srgbClr val="2F5FFF"/>
            </a:solidFill>
            <a:prstDash val="solid"/>
          </a:ln>
        </p:spPr>
      </p:sp>
      <p:sp>
        <p:nvSpPr>
          <p:cNvPr id="31" name="Text 29"/>
          <p:cNvSpPr/>
          <p:nvPr/>
        </p:nvSpPr>
        <p:spPr>
          <a:xfrm>
            <a:off x="8302752" y="40965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2" name="Text 30"/>
          <p:cNvSpPr/>
          <p:nvPr/>
        </p:nvSpPr>
        <p:spPr>
          <a:xfrm>
            <a:off x="8302752" y="4590288"/>
            <a:ext cx="2926080" cy="274320"/>
          </a:xfrm>
          <a:prstGeom prst="rect">
            <a:avLst/>
          </a:prstGeom>
          <a:noFill/>
          <a:ln/>
        </p:spPr>
        <p:txBody>
          <a:bodyPr wrap="square" lIns="0" tIns="0" rIns="0" bIns="0" rtlCol="0" anchor="ctr"/>
          <a:lstStyle/>
          <a:p>
            <a:pPr indent="0" marL="0">
              <a:buNone/>
            </a:pPr>
            <a:r>
              <a:rPr lang="en-US" sz="1450" b="1" dirty="0">
                <a:solidFill>
                  <a:srgbClr val="0F1B3D"/>
                </a:solidFill>
                <a:latin typeface="Calibri" pitchFamily="34" charset="0"/>
                <a:ea typeface="Calibri" pitchFamily="34" charset="-122"/>
                <a:cs typeface="Calibri" pitchFamily="34" charset="-120"/>
              </a:rPr>
              <a:t>Sponsored roles</a:t>
            </a:r>
            <a:endParaRPr lang="en-US" sz="1450" dirty="0"/>
          </a:p>
        </p:txBody>
      </p:sp>
      <p:sp>
        <p:nvSpPr>
          <p:cNvPr id="33" name="Text 31"/>
          <p:cNvSpPr/>
          <p:nvPr/>
        </p:nvSpPr>
        <p:spPr>
          <a:xfrm>
            <a:off x="8302752" y="4882896"/>
            <a:ext cx="2971800" cy="50292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Push an urgent vacancy to matching candidates on the channel they already use.</a:t>
            </a:r>
            <a:endParaRPr lang="en-US" sz="1150" dirty="0"/>
          </a:p>
        </p:txBody>
      </p:sp>
      <p:sp>
        <p:nvSpPr>
          <p:cNvPr id="34" name="Text 32"/>
          <p:cNvSpPr/>
          <p:nvPr/>
        </p:nvSpPr>
        <p:spPr>
          <a:xfrm>
            <a:off x="640080" y="6400800"/>
            <a:ext cx="1828800" cy="228600"/>
          </a:xfrm>
          <a:prstGeom prst="rect">
            <a:avLst/>
          </a:prstGeom>
          <a:noFill/>
          <a:ln/>
        </p:spPr>
        <p:txBody>
          <a:bodyPr wrap="square" lIns="0" tIns="0" rIns="0" bIns="0" rtlCol="0" anchor="ctr"/>
          <a:lstStyle/>
          <a:p>
            <a:pPr indent="0" marL="0">
              <a:buNone/>
            </a:pPr>
            <a:r>
              <a:rPr lang="en-US" sz="900" dirty="0">
                <a:solidFill>
                  <a:srgbClr val="A6ADB8"/>
                </a:solidFill>
                <a:latin typeface="Calibri" pitchFamily="34" charset="0"/>
                <a:ea typeface="Calibri" pitchFamily="34" charset="-122"/>
                <a:cs typeface="Calibri" pitchFamily="34" charset="-120"/>
              </a:rPr>
              <a:t>Naatiq</a:t>
            </a:r>
            <a:endParaRPr lang="en-US" sz="900" dirty="0"/>
          </a:p>
        </p:txBody>
      </p:sp>
      <p:sp>
        <p:nvSpPr>
          <p:cNvPr id="35" name="Text 33"/>
          <p:cNvSpPr/>
          <p:nvPr/>
        </p:nvSpPr>
        <p:spPr>
          <a:xfrm>
            <a:off x="10607040" y="6400800"/>
            <a:ext cx="914400" cy="228600"/>
          </a:xfrm>
          <a:prstGeom prst="rect">
            <a:avLst/>
          </a:prstGeom>
          <a:noFill/>
          <a:ln/>
        </p:spPr>
        <p:txBody>
          <a:bodyPr wrap="square" lIns="0" tIns="0" rIns="0" bIns="0" rtlCol="0" anchor="ctr"/>
          <a:lstStyle/>
          <a:p>
            <a:pPr algn="r" indent="0" marL="0">
              <a:buNone/>
            </a:pPr>
            <a:r>
              <a:rPr lang="en-US" sz="900" dirty="0">
                <a:solidFill>
                  <a:srgbClr val="A6ADB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F5FFF"/>
                </a:solidFill>
                <a:latin typeface="Calibri" pitchFamily="34" charset="0"/>
                <a:ea typeface="Calibri" pitchFamily="34" charset="-122"/>
                <a:cs typeface="Calibri" pitchFamily="34" charset="-120"/>
              </a:rPr>
              <a:t>BEYOND ACCESS</a:t>
            </a:r>
            <a:endParaRPr lang="en-US" sz="1100" dirty="0"/>
          </a:p>
        </p:txBody>
      </p:sp>
      <p:sp>
        <p:nvSpPr>
          <p:cNvPr id="3" name="Text 1"/>
          <p:cNvSpPr/>
          <p:nvPr/>
        </p:nvSpPr>
        <p:spPr>
          <a:xfrm>
            <a:off x="640080" y="658368"/>
            <a:ext cx="10881360" cy="658368"/>
          </a:xfrm>
          <a:prstGeom prst="rect">
            <a:avLst/>
          </a:prstGeom>
          <a:noFill/>
          <a:ln/>
        </p:spPr>
        <p:txBody>
          <a:bodyPr wrap="square" lIns="0" tIns="0" rIns="0" bIns="0" rtlCol="0" anchor="ctr"/>
          <a:lstStyle/>
          <a:p>
            <a:pPr indent="0" marL="0">
              <a:buNone/>
            </a:pPr>
            <a:r>
              <a:rPr lang="en-US" sz="3400" b="1" dirty="0">
                <a:solidFill>
                  <a:srgbClr val="0F1B3D"/>
                </a:solidFill>
                <a:latin typeface="Calibri" pitchFamily="34" charset="0"/>
                <a:ea typeface="Calibri" pitchFamily="34" charset="-122"/>
                <a:cs typeface="Calibri" pitchFamily="34" charset="-120"/>
              </a:rPr>
              <a:t>Additional revenue streams — institutional</a:t>
            </a:r>
            <a:endParaRPr lang="en-US" sz="3400" dirty="0"/>
          </a:p>
        </p:txBody>
      </p:sp>
      <p:sp>
        <p:nvSpPr>
          <p:cNvPr id="4" name="Text 2"/>
          <p:cNvSpPr/>
          <p:nvPr/>
        </p:nvSpPr>
        <p:spPr>
          <a:xfrm>
            <a:off x="640080" y="1335024"/>
            <a:ext cx="10332720" cy="457200"/>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Buyers who fund reach rather than access — often larger, slower, and stickier.</a:t>
            </a:r>
            <a:endParaRPr lang="en-US" sz="1500" dirty="0"/>
          </a:p>
        </p:txBody>
      </p:sp>
      <p:sp>
        <p:nvSpPr>
          <p:cNvPr id="5" name="Shape 3"/>
          <p:cNvSpPr/>
          <p:nvPr/>
        </p:nvSpPr>
        <p:spPr>
          <a:xfrm>
            <a:off x="640080" y="2194560"/>
            <a:ext cx="5257800" cy="1463040"/>
          </a:xfrm>
          <a:prstGeom prst="roundRect">
            <a:avLst>
              <a:gd name="adj" fmla="val 8750"/>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6" name="Text 4"/>
          <p:cNvSpPr/>
          <p:nvPr/>
        </p:nvSpPr>
        <p:spPr>
          <a:xfrm>
            <a:off x="960120" y="2414016"/>
            <a:ext cx="4663440" cy="292608"/>
          </a:xfrm>
          <a:prstGeom prst="rect">
            <a:avLst/>
          </a:prstGeom>
          <a:noFill/>
          <a:ln/>
        </p:spPr>
        <p:txBody>
          <a:bodyPr wrap="square" lIns="0" tIns="0" rIns="0" bIns="0" rtlCol="0" anchor="ctr"/>
          <a:lstStyle/>
          <a:p>
            <a:pPr indent="0" marL="0">
              <a:buNone/>
            </a:pPr>
            <a:r>
              <a:rPr lang="en-US" sz="1550" b="1" dirty="0">
                <a:solidFill>
                  <a:srgbClr val="2F5FFF"/>
                </a:solidFill>
                <a:latin typeface="Calibri" pitchFamily="34" charset="0"/>
                <a:ea typeface="Calibri" pitchFamily="34" charset="-122"/>
                <a:cs typeface="Calibri" pitchFamily="34" charset="-120"/>
              </a:rPr>
              <a:t>Programme licensing</a:t>
            </a:r>
            <a:endParaRPr lang="en-US" sz="1550" dirty="0"/>
          </a:p>
        </p:txBody>
      </p:sp>
      <p:sp>
        <p:nvSpPr>
          <p:cNvPr id="7" name="Text 5"/>
          <p:cNvSpPr/>
          <p:nvPr/>
        </p:nvSpPr>
        <p:spPr>
          <a:xfrm>
            <a:off x="960120" y="2761488"/>
            <a:ext cx="4663440" cy="7772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Government skilling and employability programmes pay per beneficiary reached, with reporting built in.</a:t>
            </a:r>
            <a:endParaRPr lang="en-US" sz="1250" dirty="0"/>
          </a:p>
        </p:txBody>
      </p:sp>
      <p:sp>
        <p:nvSpPr>
          <p:cNvPr id="8" name="Shape 6"/>
          <p:cNvSpPr/>
          <p:nvPr/>
        </p:nvSpPr>
        <p:spPr>
          <a:xfrm>
            <a:off x="6172200" y="2194560"/>
            <a:ext cx="5257800" cy="1463040"/>
          </a:xfrm>
          <a:prstGeom prst="roundRect">
            <a:avLst>
              <a:gd name="adj" fmla="val 8750"/>
            </a:avLst>
          </a:prstGeom>
          <a:solidFill>
            <a:srgbClr val="FFFFFF"/>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9" name="Text 7"/>
          <p:cNvSpPr/>
          <p:nvPr/>
        </p:nvSpPr>
        <p:spPr>
          <a:xfrm>
            <a:off x="6492240" y="2414016"/>
            <a:ext cx="4663440" cy="292608"/>
          </a:xfrm>
          <a:prstGeom prst="rect">
            <a:avLst/>
          </a:prstGeom>
          <a:noFill/>
          <a:ln/>
        </p:spPr>
        <p:txBody>
          <a:bodyPr wrap="square" lIns="0" tIns="0" rIns="0" bIns="0" rtlCol="0" anchor="ctr"/>
          <a:lstStyle/>
          <a:p>
            <a:pPr indent="0" marL="0">
              <a:buNone/>
            </a:pPr>
            <a:r>
              <a:rPr lang="en-US" sz="1550" b="1" dirty="0">
                <a:solidFill>
                  <a:srgbClr val="2F5FFF"/>
                </a:solidFill>
                <a:latin typeface="Calibri" pitchFamily="34" charset="0"/>
                <a:ea typeface="Calibri" pitchFamily="34" charset="-122"/>
                <a:cs typeface="Calibri" pitchFamily="34" charset="-120"/>
              </a:rPr>
              <a:t>Labour-market analytics</a:t>
            </a:r>
            <a:endParaRPr lang="en-US" sz="1550" dirty="0"/>
          </a:p>
        </p:txBody>
      </p:sp>
      <p:sp>
        <p:nvSpPr>
          <p:cNvPr id="10" name="Text 8"/>
          <p:cNvSpPr/>
          <p:nvPr/>
        </p:nvSpPr>
        <p:spPr>
          <a:xfrm>
            <a:off x="6492240" y="2761488"/>
            <a:ext cx="4663440" cy="7772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Aggregated, anonymised supply data: which trades exist where, and how that shifts over time.</a:t>
            </a:r>
            <a:endParaRPr lang="en-US" sz="1250" dirty="0"/>
          </a:p>
        </p:txBody>
      </p:sp>
      <p:sp>
        <p:nvSpPr>
          <p:cNvPr id="11" name="Shape 9"/>
          <p:cNvSpPr/>
          <p:nvPr/>
        </p:nvSpPr>
        <p:spPr>
          <a:xfrm>
            <a:off x="640080" y="3840480"/>
            <a:ext cx="5257800" cy="1463040"/>
          </a:xfrm>
          <a:prstGeom prst="roundRect">
            <a:avLst>
              <a:gd name="adj" fmla="val 8750"/>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12" name="Text 10"/>
          <p:cNvSpPr/>
          <p:nvPr/>
        </p:nvSpPr>
        <p:spPr>
          <a:xfrm>
            <a:off x="960120" y="4059936"/>
            <a:ext cx="4663440" cy="292608"/>
          </a:xfrm>
          <a:prstGeom prst="rect">
            <a:avLst/>
          </a:prstGeom>
          <a:noFill/>
          <a:ln/>
        </p:spPr>
        <p:txBody>
          <a:bodyPr wrap="square" lIns="0" tIns="0" rIns="0" bIns="0" rtlCol="0" anchor="ctr"/>
          <a:lstStyle/>
          <a:p>
            <a:pPr indent="0" marL="0">
              <a:buNone/>
            </a:pPr>
            <a:r>
              <a:rPr lang="en-US" sz="1550" b="1" dirty="0">
                <a:solidFill>
                  <a:srgbClr val="2F5FFF"/>
                </a:solidFill>
                <a:latin typeface="Calibri" pitchFamily="34" charset="0"/>
                <a:ea typeface="Calibri" pitchFamily="34" charset="-122"/>
                <a:cs typeface="Calibri" pitchFamily="34" charset="-120"/>
              </a:rPr>
              <a:t>Sponsored CV cohorts</a:t>
            </a:r>
            <a:endParaRPr lang="en-US" sz="1550" dirty="0"/>
          </a:p>
        </p:txBody>
      </p:sp>
      <p:sp>
        <p:nvSpPr>
          <p:cNvPr id="13" name="Text 11"/>
          <p:cNvSpPr/>
          <p:nvPr/>
        </p:nvSpPr>
        <p:spPr>
          <a:xfrm>
            <a:off x="960120" y="4407408"/>
            <a:ext cx="4663440" cy="7772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A corporate funds a number of CVs as measurable social impact, with named reporting.</a:t>
            </a:r>
            <a:endParaRPr lang="en-US" sz="1250" dirty="0"/>
          </a:p>
        </p:txBody>
      </p:sp>
      <p:sp>
        <p:nvSpPr>
          <p:cNvPr id="14" name="Shape 12"/>
          <p:cNvSpPr/>
          <p:nvPr/>
        </p:nvSpPr>
        <p:spPr>
          <a:xfrm>
            <a:off x="6172200" y="3840480"/>
            <a:ext cx="5257800" cy="1463040"/>
          </a:xfrm>
          <a:prstGeom prst="roundRect">
            <a:avLst>
              <a:gd name="adj" fmla="val 8750"/>
            </a:avLst>
          </a:prstGeom>
          <a:solidFill>
            <a:srgbClr val="FFFFFF"/>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15" name="Text 13"/>
          <p:cNvSpPr/>
          <p:nvPr/>
        </p:nvSpPr>
        <p:spPr>
          <a:xfrm>
            <a:off x="6492240" y="4059936"/>
            <a:ext cx="4663440" cy="292608"/>
          </a:xfrm>
          <a:prstGeom prst="rect">
            <a:avLst/>
          </a:prstGeom>
          <a:noFill/>
          <a:ln/>
        </p:spPr>
        <p:txBody>
          <a:bodyPr wrap="square" lIns="0" tIns="0" rIns="0" bIns="0" rtlCol="0" anchor="ctr"/>
          <a:lstStyle/>
          <a:p>
            <a:pPr indent="0" marL="0">
              <a:buNone/>
            </a:pPr>
            <a:r>
              <a:rPr lang="en-US" sz="1550" b="1" dirty="0">
                <a:solidFill>
                  <a:srgbClr val="2F5FFF"/>
                </a:solidFill>
                <a:latin typeface="Calibri" pitchFamily="34" charset="0"/>
                <a:ea typeface="Calibri" pitchFamily="34" charset="-122"/>
                <a:cs typeface="Calibri" pitchFamily="34" charset="-120"/>
              </a:rPr>
              <a:t>Compliance packs</a:t>
            </a:r>
            <a:endParaRPr lang="en-US" sz="1550" dirty="0"/>
          </a:p>
        </p:txBody>
      </p:sp>
      <p:sp>
        <p:nvSpPr>
          <p:cNvPr id="16" name="Text 14"/>
          <p:cNvSpPr/>
          <p:nvPr/>
        </p:nvSpPr>
        <p:spPr>
          <a:xfrm>
            <a:off x="6492240" y="4407408"/>
            <a:ext cx="4663440" cy="77724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Standardised worker records formatted for visa, labour-file and audit processes.</a:t>
            </a:r>
            <a:endParaRPr lang="en-US" sz="1250" dirty="0"/>
          </a:p>
        </p:txBody>
      </p:sp>
      <p:sp>
        <p:nvSpPr>
          <p:cNvPr id="17" name="Text 15"/>
          <p:cNvSpPr/>
          <p:nvPr/>
        </p:nvSpPr>
        <p:spPr>
          <a:xfrm>
            <a:off x="640080" y="6400800"/>
            <a:ext cx="1828800" cy="228600"/>
          </a:xfrm>
          <a:prstGeom prst="rect">
            <a:avLst/>
          </a:prstGeom>
          <a:noFill/>
          <a:ln/>
        </p:spPr>
        <p:txBody>
          <a:bodyPr wrap="square" lIns="0" tIns="0" rIns="0" bIns="0" rtlCol="0" anchor="ctr"/>
          <a:lstStyle/>
          <a:p>
            <a:pPr indent="0" marL="0">
              <a:buNone/>
            </a:pPr>
            <a:r>
              <a:rPr lang="en-US" sz="900" dirty="0">
                <a:solidFill>
                  <a:srgbClr val="A6ADB8"/>
                </a:solidFill>
                <a:latin typeface="Calibri" pitchFamily="34" charset="0"/>
                <a:ea typeface="Calibri" pitchFamily="34" charset="-122"/>
                <a:cs typeface="Calibri" pitchFamily="34" charset="-120"/>
              </a:rPr>
              <a:t>Naatiq</a:t>
            </a:r>
            <a:endParaRPr lang="en-US" sz="900" dirty="0"/>
          </a:p>
        </p:txBody>
      </p:sp>
      <p:sp>
        <p:nvSpPr>
          <p:cNvPr id="18" name="Text 16"/>
          <p:cNvSpPr/>
          <p:nvPr/>
        </p:nvSpPr>
        <p:spPr>
          <a:xfrm>
            <a:off x="10607040" y="6400800"/>
            <a:ext cx="914400" cy="228600"/>
          </a:xfrm>
          <a:prstGeom prst="rect">
            <a:avLst/>
          </a:prstGeom>
          <a:noFill/>
          <a:ln/>
        </p:spPr>
        <p:txBody>
          <a:bodyPr wrap="square" lIns="0" tIns="0" rIns="0" bIns="0" rtlCol="0" anchor="ctr"/>
          <a:lstStyle/>
          <a:p>
            <a:pPr algn="r" indent="0" marL="0">
              <a:buNone/>
            </a:pPr>
            <a:r>
              <a:rPr lang="en-US" sz="900" dirty="0">
                <a:solidFill>
                  <a:srgbClr val="A6ADB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F5FFF"/>
                </a:solidFill>
                <a:latin typeface="Calibri" pitchFamily="34" charset="0"/>
                <a:ea typeface="Calibri" pitchFamily="34" charset="-122"/>
                <a:cs typeface="Calibri" pitchFamily="34" charset="-120"/>
              </a:rPr>
              <a:t>PRICING</a:t>
            </a:r>
            <a:endParaRPr lang="en-US" sz="1100" dirty="0"/>
          </a:p>
        </p:txBody>
      </p:sp>
      <p:sp>
        <p:nvSpPr>
          <p:cNvPr id="3" name="Text 1"/>
          <p:cNvSpPr/>
          <p:nvPr/>
        </p:nvSpPr>
        <p:spPr>
          <a:xfrm>
            <a:off x="640080" y="658368"/>
            <a:ext cx="10881360" cy="658368"/>
          </a:xfrm>
          <a:prstGeom prst="rect">
            <a:avLst/>
          </a:prstGeom>
          <a:noFill/>
          <a:ln/>
        </p:spPr>
        <p:txBody>
          <a:bodyPr wrap="square" lIns="0" tIns="0" rIns="0" bIns="0" rtlCol="0" anchor="ctr"/>
          <a:lstStyle/>
          <a:p>
            <a:pPr indent="0" marL="0">
              <a:buNone/>
            </a:pPr>
            <a:r>
              <a:rPr lang="en-US" sz="3400" b="1" dirty="0">
                <a:solidFill>
                  <a:srgbClr val="0F1B3D"/>
                </a:solidFill>
                <a:latin typeface="Calibri" pitchFamily="34" charset="0"/>
                <a:ea typeface="Calibri" pitchFamily="34" charset="-122"/>
                <a:cs typeface="Calibri" pitchFamily="34" charset="-120"/>
              </a:rPr>
              <a:t>How to price it, without guessing</a:t>
            </a:r>
            <a:endParaRPr lang="en-US" sz="3400" dirty="0"/>
          </a:p>
        </p:txBody>
      </p:sp>
      <p:sp>
        <p:nvSpPr>
          <p:cNvPr id="4" name="Text 2"/>
          <p:cNvSpPr/>
          <p:nvPr/>
        </p:nvSpPr>
        <p:spPr>
          <a:xfrm>
            <a:off x="640080" y="1335024"/>
            <a:ext cx="10332720" cy="457200"/>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Deliberately no figures here — these should be set against your own placement economics.</a:t>
            </a:r>
            <a:endParaRPr lang="en-US" sz="1500" dirty="0"/>
          </a:p>
        </p:txBody>
      </p:sp>
      <p:sp>
        <p:nvSpPr>
          <p:cNvPr id="5" name="Shape 3"/>
          <p:cNvSpPr/>
          <p:nvPr/>
        </p:nvSpPr>
        <p:spPr>
          <a:xfrm>
            <a:off x="640080" y="2240280"/>
            <a:ext cx="3429000" cy="2743200"/>
          </a:xfrm>
          <a:prstGeom prst="roundRect">
            <a:avLst>
              <a:gd name="adj" fmla="val 4667"/>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6" name="Text 4"/>
          <p:cNvSpPr/>
          <p:nvPr/>
        </p:nvSpPr>
        <p:spPr>
          <a:xfrm>
            <a:off x="914400" y="2487168"/>
            <a:ext cx="2926080" cy="310896"/>
          </a:xfrm>
          <a:prstGeom prst="rect">
            <a:avLst/>
          </a:prstGeom>
          <a:noFill/>
          <a:ln/>
        </p:spPr>
        <p:txBody>
          <a:bodyPr wrap="square" lIns="0" tIns="0" rIns="0" bIns="0" rtlCol="0" anchor="ctr"/>
          <a:lstStyle/>
          <a:p>
            <a:pPr indent="0" marL="0">
              <a:buNone/>
            </a:pPr>
            <a:r>
              <a:rPr lang="en-US" sz="1550" b="1" dirty="0">
                <a:solidFill>
                  <a:srgbClr val="0F1B3D"/>
                </a:solidFill>
                <a:latin typeface="Calibri" pitchFamily="34" charset="0"/>
                <a:ea typeface="Calibri" pitchFamily="34" charset="-122"/>
                <a:cs typeface="Calibri" pitchFamily="34" charset="-120"/>
              </a:rPr>
              <a:t>Value metric</a:t>
            </a:r>
            <a:endParaRPr lang="en-US" sz="1550" dirty="0"/>
          </a:p>
        </p:txBody>
      </p:sp>
      <p:sp>
        <p:nvSpPr>
          <p:cNvPr id="7" name="Text 5"/>
          <p:cNvSpPr/>
          <p:nvPr/>
        </p:nvSpPr>
        <p:spPr>
          <a:xfrm>
            <a:off x="914400" y="2880360"/>
            <a:ext cx="2926080" cy="1920240"/>
          </a:xfrm>
          <a:prstGeom prst="rect">
            <a:avLst/>
          </a:prstGeom>
          <a:noFill/>
          <a:ln/>
        </p:spPr>
        <p:txBody>
          <a:bodyPr wrap="square" lIns="0" tIns="0" rIns="0" bIns="0" rtlCol="0" anchor="ctr"/>
          <a:lstStyle/>
          <a:p>
            <a:pPr marL="342900" indent="-342900">
              <a:spcAft>
                <a:spcPts val="900"/>
              </a:spcAft>
              <a:buSzPct val="100000"/>
              <a:buChar char="•"/>
            </a:pPr>
            <a:r>
              <a:rPr lang="en-US" sz="1250" dirty="0">
                <a:solidFill>
                  <a:srgbClr val="5B6472"/>
                </a:solidFill>
                <a:latin typeface="Calibri" pitchFamily="34" charset="0"/>
                <a:ea typeface="Calibri" pitchFamily="34" charset="-122"/>
                <a:cs typeface="Calibri" pitchFamily="34" charset="-120"/>
              </a:rPr>
              <a:t>Subscription: seats, or occupations unlocked</a:t>
            </a:r>
            <a:endParaRPr lang="en-US" sz="1250" dirty="0"/>
          </a:p>
          <a:p>
            <a:pPr marL="342900" indent="-342900">
              <a:spcAft>
                <a:spcPts val="900"/>
              </a:spcAft>
              <a:buSzPct val="100000"/>
              <a:buChar char="•"/>
            </a:pPr>
            <a:r>
              <a:rPr lang="en-US" sz="1250" dirty="0">
                <a:solidFill>
                  <a:srgbClr val="5B6472"/>
                </a:solidFill>
                <a:latin typeface="Calibri" pitchFamily="34" charset="0"/>
                <a:ea typeface="Calibri" pitchFamily="34" charset="-122"/>
                <a:cs typeface="Calibri" pitchFamily="34" charset="-120"/>
              </a:rPr>
              <a:t>Per-occupation: size and scarcity of the category</a:t>
            </a:r>
            <a:endParaRPr lang="en-US" sz="1250" dirty="0"/>
          </a:p>
          <a:p>
            <a:pPr marL="342900" indent="-342900">
              <a:spcAft>
                <a:spcPts val="900"/>
              </a:spcAft>
              <a:buSzPct val="100000"/>
              <a:buChar char="•"/>
            </a:pPr>
            <a:r>
              <a:rPr lang="en-US" sz="1250" dirty="0">
                <a:solidFill>
                  <a:srgbClr val="5B6472"/>
                </a:solidFill>
                <a:latin typeface="Calibri" pitchFamily="34" charset="0"/>
                <a:ea typeface="Calibri" pitchFamily="34" charset="-122"/>
                <a:cs typeface="Calibri" pitchFamily="34" charset="-120"/>
              </a:rPr>
              <a:t>Success fee: share of the placement's value</a:t>
            </a:r>
            <a:endParaRPr lang="en-US" sz="1250" dirty="0"/>
          </a:p>
        </p:txBody>
      </p:sp>
      <p:sp>
        <p:nvSpPr>
          <p:cNvPr id="8" name="Shape 6"/>
          <p:cNvSpPr/>
          <p:nvPr/>
        </p:nvSpPr>
        <p:spPr>
          <a:xfrm>
            <a:off x="4343400" y="2240280"/>
            <a:ext cx="3429000" cy="2743200"/>
          </a:xfrm>
          <a:prstGeom prst="roundRect">
            <a:avLst>
              <a:gd name="adj" fmla="val 4667"/>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9" name="Text 7"/>
          <p:cNvSpPr/>
          <p:nvPr/>
        </p:nvSpPr>
        <p:spPr>
          <a:xfrm>
            <a:off x="4617720" y="2487168"/>
            <a:ext cx="2926080" cy="310896"/>
          </a:xfrm>
          <a:prstGeom prst="rect">
            <a:avLst/>
          </a:prstGeom>
          <a:noFill/>
          <a:ln/>
        </p:spPr>
        <p:txBody>
          <a:bodyPr wrap="square" lIns="0" tIns="0" rIns="0" bIns="0" rtlCol="0" anchor="ctr"/>
          <a:lstStyle/>
          <a:p>
            <a:pPr indent="0" marL="0">
              <a:buNone/>
            </a:pPr>
            <a:r>
              <a:rPr lang="en-US" sz="1550" b="1" dirty="0">
                <a:solidFill>
                  <a:srgbClr val="0F1B3D"/>
                </a:solidFill>
                <a:latin typeface="Calibri" pitchFamily="34" charset="0"/>
                <a:ea typeface="Calibri" pitchFamily="34" charset="-122"/>
                <a:cs typeface="Calibri" pitchFamily="34" charset="-120"/>
              </a:rPr>
              <a:t>What it anchors against</a:t>
            </a:r>
            <a:endParaRPr lang="en-US" sz="1550" dirty="0"/>
          </a:p>
        </p:txBody>
      </p:sp>
      <p:sp>
        <p:nvSpPr>
          <p:cNvPr id="10" name="Text 8"/>
          <p:cNvSpPr/>
          <p:nvPr/>
        </p:nvSpPr>
        <p:spPr>
          <a:xfrm>
            <a:off x="4617720" y="2880360"/>
            <a:ext cx="2926080" cy="1920240"/>
          </a:xfrm>
          <a:prstGeom prst="rect">
            <a:avLst/>
          </a:prstGeom>
          <a:noFill/>
          <a:ln/>
        </p:spPr>
        <p:txBody>
          <a:bodyPr wrap="square" lIns="0" tIns="0" rIns="0" bIns="0" rtlCol="0" anchor="ctr"/>
          <a:lstStyle/>
          <a:p>
            <a:pPr marL="342900" indent="-342900">
              <a:spcAft>
                <a:spcPts val="900"/>
              </a:spcAft>
              <a:buSzPct val="100000"/>
              <a:buChar char="•"/>
            </a:pPr>
            <a:r>
              <a:rPr lang="en-US" sz="1250" dirty="0">
                <a:solidFill>
                  <a:srgbClr val="5B6472"/>
                </a:solidFill>
                <a:latin typeface="Calibri" pitchFamily="34" charset="0"/>
                <a:ea typeface="Calibri" pitchFamily="34" charset="-122"/>
                <a:cs typeface="Calibri" pitchFamily="34" charset="-120"/>
              </a:rPr>
              <a:t>Existing job-board and database spend</a:t>
            </a:r>
            <a:endParaRPr lang="en-US" sz="1250" dirty="0"/>
          </a:p>
          <a:p>
            <a:pPr marL="342900" indent="-342900">
              <a:spcAft>
                <a:spcPts val="900"/>
              </a:spcAft>
              <a:buSzPct val="100000"/>
              <a:buChar char="•"/>
            </a:pPr>
            <a:r>
              <a:rPr lang="en-US" sz="1250" dirty="0">
                <a:solidFill>
                  <a:srgbClr val="5B6472"/>
                </a:solidFill>
                <a:latin typeface="Calibri" pitchFamily="34" charset="0"/>
                <a:ea typeface="Calibri" pitchFamily="34" charset="-122"/>
                <a:cs typeface="Calibri" pitchFamily="34" charset="-120"/>
              </a:rPr>
              <a:t>Cost of a consultant's sourcing hours</a:t>
            </a:r>
            <a:endParaRPr lang="en-US" sz="1250" dirty="0"/>
          </a:p>
          <a:p>
            <a:pPr marL="342900" indent="-342900">
              <a:spcAft>
                <a:spcPts val="900"/>
              </a:spcAft>
              <a:buSzPct val="100000"/>
              <a:buChar char="•"/>
            </a:pPr>
            <a:r>
              <a:rPr lang="en-US" sz="1250" dirty="0">
                <a:solidFill>
                  <a:srgbClr val="5B6472"/>
                </a:solidFill>
                <a:latin typeface="Calibri" pitchFamily="34" charset="0"/>
                <a:ea typeface="Calibri" pitchFamily="34" charset="-122"/>
                <a:cs typeface="Calibri" pitchFamily="34" charset="-120"/>
              </a:rPr>
              <a:t>Referral fees already being paid</a:t>
            </a:r>
            <a:endParaRPr lang="en-US" sz="1250" dirty="0"/>
          </a:p>
        </p:txBody>
      </p:sp>
      <p:sp>
        <p:nvSpPr>
          <p:cNvPr id="11" name="Shape 9"/>
          <p:cNvSpPr/>
          <p:nvPr/>
        </p:nvSpPr>
        <p:spPr>
          <a:xfrm>
            <a:off x="8046720" y="2240280"/>
            <a:ext cx="3429000" cy="2743200"/>
          </a:xfrm>
          <a:prstGeom prst="roundRect">
            <a:avLst>
              <a:gd name="adj" fmla="val 4667"/>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12" name="Text 10"/>
          <p:cNvSpPr/>
          <p:nvPr/>
        </p:nvSpPr>
        <p:spPr>
          <a:xfrm>
            <a:off x="8321040" y="2487168"/>
            <a:ext cx="2926080" cy="310896"/>
          </a:xfrm>
          <a:prstGeom prst="rect">
            <a:avLst/>
          </a:prstGeom>
          <a:noFill/>
          <a:ln/>
        </p:spPr>
        <p:txBody>
          <a:bodyPr wrap="square" lIns="0" tIns="0" rIns="0" bIns="0" rtlCol="0" anchor="ctr"/>
          <a:lstStyle/>
          <a:p>
            <a:pPr indent="0" marL="0">
              <a:buNone/>
            </a:pPr>
            <a:r>
              <a:rPr lang="en-US" sz="1550" b="1" dirty="0">
                <a:solidFill>
                  <a:srgbClr val="0F1B3D"/>
                </a:solidFill>
                <a:latin typeface="Calibri" pitchFamily="34" charset="0"/>
                <a:ea typeface="Calibri" pitchFamily="34" charset="-122"/>
                <a:cs typeface="Calibri" pitchFamily="34" charset="-120"/>
              </a:rPr>
              <a:t>What moves it</a:t>
            </a:r>
            <a:endParaRPr lang="en-US" sz="1550" dirty="0"/>
          </a:p>
        </p:txBody>
      </p:sp>
      <p:sp>
        <p:nvSpPr>
          <p:cNvPr id="13" name="Text 11"/>
          <p:cNvSpPr/>
          <p:nvPr/>
        </p:nvSpPr>
        <p:spPr>
          <a:xfrm>
            <a:off x="8321040" y="2880360"/>
            <a:ext cx="2926080" cy="1920240"/>
          </a:xfrm>
          <a:prstGeom prst="rect">
            <a:avLst/>
          </a:prstGeom>
          <a:noFill/>
          <a:ln/>
        </p:spPr>
        <p:txBody>
          <a:bodyPr wrap="square" lIns="0" tIns="0" rIns="0" bIns="0" rtlCol="0" anchor="ctr"/>
          <a:lstStyle/>
          <a:p>
            <a:pPr marL="342900" indent="-342900">
              <a:spcAft>
                <a:spcPts val="900"/>
              </a:spcAft>
              <a:buSzPct val="100000"/>
              <a:buChar char="•"/>
            </a:pPr>
            <a:r>
              <a:rPr lang="en-US" sz="1250" dirty="0">
                <a:solidFill>
                  <a:srgbClr val="5B6472"/>
                </a:solidFill>
                <a:latin typeface="Calibri" pitchFamily="34" charset="0"/>
                <a:ea typeface="Calibri" pitchFamily="34" charset="-122"/>
                <a:cs typeface="Calibri" pitchFamily="34" charset="-120"/>
              </a:rPr>
              <a:t>Depth of the pool in that occupation</a:t>
            </a:r>
            <a:endParaRPr lang="en-US" sz="1250" dirty="0"/>
          </a:p>
          <a:p>
            <a:pPr marL="342900" indent="-342900">
              <a:spcAft>
                <a:spcPts val="900"/>
              </a:spcAft>
              <a:buSzPct val="100000"/>
              <a:buChar char="•"/>
            </a:pPr>
            <a:r>
              <a:rPr lang="en-US" sz="1250" dirty="0">
                <a:solidFill>
                  <a:srgbClr val="5B6472"/>
                </a:solidFill>
                <a:latin typeface="Calibri" pitchFamily="34" charset="0"/>
                <a:ea typeface="Calibri" pitchFamily="34" charset="-122"/>
                <a:cs typeface="Calibri" pitchFamily="34" charset="-120"/>
              </a:rPr>
              <a:t>Exclusivity and freshness of access</a:t>
            </a:r>
            <a:endParaRPr lang="en-US" sz="1250" dirty="0"/>
          </a:p>
          <a:p>
            <a:pPr marL="342900" indent="-342900">
              <a:spcAft>
                <a:spcPts val="900"/>
              </a:spcAft>
              <a:buSzPct val="100000"/>
              <a:buChar char="•"/>
            </a:pPr>
            <a:r>
              <a:rPr lang="en-US" sz="1250" dirty="0">
                <a:solidFill>
                  <a:srgbClr val="5B6472"/>
                </a:solidFill>
                <a:latin typeface="Calibri" pitchFamily="34" charset="0"/>
                <a:ea typeface="Calibri" pitchFamily="34" charset="-122"/>
                <a:cs typeface="Calibri" pitchFamily="34" charset="-120"/>
              </a:rPr>
              <a:t>Verification level and integration depth</a:t>
            </a:r>
            <a:endParaRPr lang="en-US" sz="1250" dirty="0"/>
          </a:p>
        </p:txBody>
      </p:sp>
      <p:sp>
        <p:nvSpPr>
          <p:cNvPr id="14" name="Text 12"/>
          <p:cNvSpPr/>
          <p:nvPr/>
        </p:nvSpPr>
        <p:spPr>
          <a:xfrm>
            <a:off x="640080" y="5212080"/>
            <a:ext cx="10515600" cy="365760"/>
          </a:xfrm>
          <a:prstGeom prst="rect">
            <a:avLst/>
          </a:prstGeom>
          <a:noFill/>
          <a:ln/>
        </p:spPr>
        <p:txBody>
          <a:bodyPr wrap="square" lIns="0" tIns="0" rIns="0" bIns="0" rtlCol="0" anchor="ctr"/>
          <a:lstStyle/>
          <a:p>
            <a:pPr indent="0" marL="0">
              <a:buNone/>
            </a:pPr>
            <a:r>
              <a:rPr lang="en-US" sz="1400" i="1" dirty="0">
                <a:solidFill>
                  <a:srgbClr val="0F1B3D"/>
                </a:solidFill>
                <a:latin typeface="Calibri" pitchFamily="34" charset="0"/>
                <a:ea typeface="Calibri" pitchFamily="34" charset="-122"/>
                <a:cs typeface="Calibri" pitchFamily="34" charset="-120"/>
              </a:rPr>
              <a:t>Rule of thumb: price against the cost of the hours this removes, not against the cost of running the software.</a:t>
            </a:r>
            <a:endParaRPr lang="en-US" sz="1400" dirty="0"/>
          </a:p>
        </p:txBody>
      </p:sp>
      <p:sp>
        <p:nvSpPr>
          <p:cNvPr id="15" name="Text 13"/>
          <p:cNvSpPr/>
          <p:nvPr/>
        </p:nvSpPr>
        <p:spPr>
          <a:xfrm>
            <a:off x="640080" y="6400800"/>
            <a:ext cx="1828800" cy="228600"/>
          </a:xfrm>
          <a:prstGeom prst="rect">
            <a:avLst/>
          </a:prstGeom>
          <a:noFill/>
          <a:ln/>
        </p:spPr>
        <p:txBody>
          <a:bodyPr wrap="square" lIns="0" tIns="0" rIns="0" bIns="0" rtlCol="0" anchor="ctr"/>
          <a:lstStyle/>
          <a:p>
            <a:pPr indent="0" marL="0">
              <a:buNone/>
            </a:pPr>
            <a:r>
              <a:rPr lang="en-US" sz="900" dirty="0">
                <a:solidFill>
                  <a:srgbClr val="A6ADB8"/>
                </a:solidFill>
                <a:latin typeface="Calibri" pitchFamily="34" charset="0"/>
                <a:ea typeface="Calibri" pitchFamily="34" charset="-122"/>
                <a:cs typeface="Calibri" pitchFamily="34" charset="-120"/>
              </a:rPr>
              <a:t>Naatiq</a:t>
            </a:r>
            <a:endParaRPr lang="en-US" sz="900" dirty="0"/>
          </a:p>
        </p:txBody>
      </p:sp>
      <p:sp>
        <p:nvSpPr>
          <p:cNvPr id="16" name="Text 14"/>
          <p:cNvSpPr/>
          <p:nvPr/>
        </p:nvSpPr>
        <p:spPr>
          <a:xfrm>
            <a:off x="10607040" y="6400800"/>
            <a:ext cx="914400" cy="228600"/>
          </a:xfrm>
          <a:prstGeom prst="rect">
            <a:avLst/>
          </a:prstGeom>
          <a:noFill/>
          <a:ln/>
        </p:spPr>
        <p:txBody>
          <a:bodyPr wrap="square" lIns="0" tIns="0" rIns="0" bIns="0" rtlCol="0" anchor="ctr"/>
          <a:lstStyle/>
          <a:p>
            <a:pPr algn="r" indent="0" marL="0">
              <a:buNone/>
            </a:pPr>
            <a:r>
              <a:rPr lang="en-US" sz="900" dirty="0">
                <a:solidFill>
                  <a:srgbClr val="A6ADB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F5FFF"/>
                </a:solidFill>
                <a:latin typeface="Calibri" pitchFamily="34" charset="0"/>
                <a:ea typeface="Calibri" pitchFamily="34" charset="-122"/>
                <a:cs typeface="Calibri" pitchFamily="34" charset="-120"/>
              </a:rPr>
              <a:t>GUARDRAILS</a:t>
            </a:r>
            <a:endParaRPr lang="en-US" sz="1100" dirty="0"/>
          </a:p>
        </p:txBody>
      </p:sp>
      <p:sp>
        <p:nvSpPr>
          <p:cNvPr id="3" name="Text 1"/>
          <p:cNvSpPr/>
          <p:nvPr/>
        </p:nvSpPr>
        <p:spPr>
          <a:xfrm>
            <a:off x="640080" y="658368"/>
            <a:ext cx="10881360" cy="658368"/>
          </a:xfrm>
          <a:prstGeom prst="rect">
            <a:avLst/>
          </a:prstGeom>
          <a:noFill/>
          <a:ln/>
        </p:spPr>
        <p:txBody>
          <a:bodyPr wrap="square" lIns="0" tIns="0" rIns="0" bIns="0" rtlCol="0" anchor="ctr"/>
          <a:lstStyle/>
          <a:p>
            <a:pPr indent="0" marL="0">
              <a:buNone/>
            </a:pPr>
            <a:r>
              <a:rPr lang="en-US" sz="3400" b="1" dirty="0">
                <a:solidFill>
                  <a:srgbClr val="0F1B3D"/>
                </a:solidFill>
                <a:latin typeface="Calibri" pitchFamily="34" charset="0"/>
                <a:ea typeface="Calibri" pitchFamily="34" charset="-122"/>
                <a:cs typeface="Calibri" pitchFamily="34" charset="-120"/>
              </a:rPr>
              <a:t>What we will not monetise</a:t>
            </a:r>
            <a:endParaRPr lang="en-US" sz="3400" dirty="0"/>
          </a:p>
        </p:txBody>
      </p:sp>
      <p:sp>
        <p:nvSpPr>
          <p:cNvPr id="4" name="Text 2"/>
          <p:cNvSpPr/>
          <p:nvPr/>
        </p:nvSpPr>
        <p:spPr>
          <a:xfrm>
            <a:off x="640080" y="1335024"/>
            <a:ext cx="10332720" cy="457200"/>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Worth stating explicitly — procurement, ESG and legal will all ask.</a:t>
            </a:r>
            <a:endParaRPr lang="en-US" sz="1500" dirty="0"/>
          </a:p>
        </p:txBody>
      </p:sp>
      <p:sp>
        <p:nvSpPr>
          <p:cNvPr id="5" name="Shape 3"/>
          <p:cNvSpPr/>
          <p:nvPr/>
        </p:nvSpPr>
        <p:spPr>
          <a:xfrm>
            <a:off x="640080" y="2148840"/>
            <a:ext cx="10607040" cy="786384"/>
          </a:xfrm>
          <a:prstGeom prst="roundRect">
            <a:avLst>
              <a:gd name="adj" fmla="val 16279"/>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6" name="Shape 4"/>
          <p:cNvSpPr/>
          <p:nvPr/>
        </p:nvSpPr>
        <p:spPr>
          <a:xfrm>
            <a:off x="896112" y="2340864"/>
            <a:ext cx="402336" cy="402336"/>
          </a:xfrm>
          <a:prstGeom prst="ellipse">
            <a:avLst/>
          </a:prstGeom>
          <a:solidFill>
            <a:srgbClr val="16C89A"/>
          </a:solidFill>
          <a:ln w="12700">
            <a:solidFill>
              <a:srgbClr val="16C89A"/>
            </a:solidFill>
            <a:prstDash val="solid"/>
          </a:ln>
        </p:spPr>
      </p:sp>
      <p:sp>
        <p:nvSpPr>
          <p:cNvPr id="7" name="Text 5"/>
          <p:cNvSpPr/>
          <p:nvPr/>
        </p:nvSpPr>
        <p:spPr>
          <a:xfrm>
            <a:off x="896112" y="2340864"/>
            <a:ext cx="402336" cy="402336"/>
          </a:xfrm>
          <a:prstGeom prst="rect">
            <a:avLst/>
          </a:prstGeom>
          <a:noFill/>
          <a:ln/>
        </p:spPr>
        <p:txBody>
          <a:bodyPr wrap="square" lIns="0" tIns="0" rIns="0" bIns="0" rtlCol="0" anchor="ctr"/>
          <a:lstStyle/>
          <a:p>
            <a:pPr algn="ctr" indent="0" marL="0">
              <a:buNone/>
            </a:pPr>
            <a:r>
              <a:rPr lang="en-US" sz="1400" b="1" dirty="0">
                <a:solidFill>
                  <a:srgbClr val="0F1B3D"/>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481328" y="2240280"/>
            <a:ext cx="3108960" cy="594360"/>
          </a:xfrm>
          <a:prstGeom prst="rect">
            <a:avLst/>
          </a:prstGeom>
          <a:noFill/>
          <a:ln/>
        </p:spPr>
        <p:txBody>
          <a:bodyPr wrap="square" lIns="0" tIns="0" rIns="0" bIns="0" rtlCol="0" anchor="ctr"/>
          <a:lstStyle/>
          <a:p>
            <a:pPr indent="0" marL="0">
              <a:buNone/>
            </a:pPr>
            <a:r>
              <a:rPr lang="en-US" sz="1400" b="1" dirty="0">
                <a:solidFill>
                  <a:srgbClr val="0F1B3D"/>
                </a:solidFill>
                <a:latin typeface="Calibri" pitchFamily="34" charset="0"/>
                <a:ea typeface="Calibri" pitchFamily="34" charset="-122"/>
                <a:cs typeface="Calibri" pitchFamily="34" charset="-120"/>
              </a:rPr>
              <a:t>No candidate charges, ever</a:t>
            </a:r>
            <a:endParaRPr lang="en-US" sz="1400" dirty="0"/>
          </a:p>
        </p:txBody>
      </p:sp>
      <p:sp>
        <p:nvSpPr>
          <p:cNvPr id="9" name="Text 7"/>
          <p:cNvSpPr/>
          <p:nvPr/>
        </p:nvSpPr>
        <p:spPr>
          <a:xfrm>
            <a:off x="4663440" y="2240280"/>
            <a:ext cx="6400800" cy="59436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No fees, no premium placement, no pay-to-be-seen. The supply side stays free or the model breaks.</a:t>
            </a:r>
            <a:endParaRPr lang="en-US" sz="1250" dirty="0"/>
          </a:p>
        </p:txBody>
      </p:sp>
      <p:sp>
        <p:nvSpPr>
          <p:cNvPr id="10" name="Shape 8"/>
          <p:cNvSpPr/>
          <p:nvPr/>
        </p:nvSpPr>
        <p:spPr>
          <a:xfrm>
            <a:off x="640080" y="3044952"/>
            <a:ext cx="10607040" cy="786384"/>
          </a:xfrm>
          <a:prstGeom prst="roundRect">
            <a:avLst>
              <a:gd name="adj" fmla="val 16279"/>
            </a:avLst>
          </a:prstGeom>
          <a:solidFill>
            <a:srgbClr val="FFFFFF"/>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11" name="Shape 9"/>
          <p:cNvSpPr/>
          <p:nvPr/>
        </p:nvSpPr>
        <p:spPr>
          <a:xfrm>
            <a:off x="896112" y="3236976"/>
            <a:ext cx="402336" cy="402336"/>
          </a:xfrm>
          <a:prstGeom prst="ellipse">
            <a:avLst/>
          </a:prstGeom>
          <a:solidFill>
            <a:srgbClr val="16C89A"/>
          </a:solidFill>
          <a:ln w="12700">
            <a:solidFill>
              <a:srgbClr val="16C89A"/>
            </a:solidFill>
            <a:prstDash val="solid"/>
          </a:ln>
        </p:spPr>
      </p:sp>
      <p:sp>
        <p:nvSpPr>
          <p:cNvPr id="12" name="Text 10"/>
          <p:cNvSpPr/>
          <p:nvPr/>
        </p:nvSpPr>
        <p:spPr>
          <a:xfrm>
            <a:off x="896112" y="3236976"/>
            <a:ext cx="402336" cy="402336"/>
          </a:xfrm>
          <a:prstGeom prst="rect">
            <a:avLst/>
          </a:prstGeom>
          <a:noFill/>
          <a:ln/>
        </p:spPr>
        <p:txBody>
          <a:bodyPr wrap="square" lIns="0" tIns="0" rIns="0" bIns="0" rtlCol="0" anchor="ctr"/>
          <a:lstStyle/>
          <a:p>
            <a:pPr algn="ctr" indent="0" marL="0">
              <a:buNone/>
            </a:pPr>
            <a:r>
              <a:rPr lang="en-US" sz="1400" b="1" dirty="0">
                <a:solidFill>
                  <a:srgbClr val="0F1B3D"/>
                </a:solidFill>
                <a:latin typeface="Calibri" pitchFamily="34" charset="0"/>
                <a:ea typeface="Calibri" pitchFamily="34" charset="-122"/>
                <a:cs typeface="Calibri" pitchFamily="34" charset="-120"/>
              </a:rPr>
              <a:t>✓</a:t>
            </a:r>
            <a:endParaRPr lang="en-US" sz="1400" dirty="0"/>
          </a:p>
        </p:txBody>
      </p:sp>
      <p:sp>
        <p:nvSpPr>
          <p:cNvPr id="13" name="Text 11"/>
          <p:cNvSpPr/>
          <p:nvPr/>
        </p:nvSpPr>
        <p:spPr>
          <a:xfrm>
            <a:off x="1481328" y="3136392"/>
            <a:ext cx="3108960" cy="594360"/>
          </a:xfrm>
          <a:prstGeom prst="rect">
            <a:avLst/>
          </a:prstGeom>
          <a:noFill/>
          <a:ln/>
        </p:spPr>
        <p:txBody>
          <a:bodyPr wrap="square" lIns="0" tIns="0" rIns="0" bIns="0" rtlCol="0" anchor="ctr"/>
          <a:lstStyle/>
          <a:p>
            <a:pPr indent="0" marL="0">
              <a:buNone/>
            </a:pPr>
            <a:r>
              <a:rPr lang="en-US" sz="1400" b="1" dirty="0">
                <a:solidFill>
                  <a:srgbClr val="0F1B3D"/>
                </a:solidFill>
                <a:latin typeface="Calibri" pitchFamily="34" charset="0"/>
                <a:ea typeface="Calibri" pitchFamily="34" charset="-122"/>
                <a:cs typeface="Calibri" pitchFamily="34" charset="-120"/>
              </a:rPr>
              <a:t>No selling personal data</a:t>
            </a:r>
            <a:endParaRPr lang="en-US" sz="1400" dirty="0"/>
          </a:p>
        </p:txBody>
      </p:sp>
      <p:sp>
        <p:nvSpPr>
          <p:cNvPr id="14" name="Text 12"/>
          <p:cNvSpPr/>
          <p:nvPr/>
        </p:nvSpPr>
        <p:spPr>
          <a:xfrm>
            <a:off x="4663440" y="3136392"/>
            <a:ext cx="6400800" cy="59436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Analytics products are aggregated and anonymised. Individual records are never the product.</a:t>
            </a:r>
            <a:endParaRPr lang="en-US" sz="1250" dirty="0"/>
          </a:p>
        </p:txBody>
      </p:sp>
      <p:sp>
        <p:nvSpPr>
          <p:cNvPr id="15" name="Shape 13"/>
          <p:cNvSpPr/>
          <p:nvPr/>
        </p:nvSpPr>
        <p:spPr>
          <a:xfrm>
            <a:off x="640080" y="3941064"/>
            <a:ext cx="10607040" cy="786384"/>
          </a:xfrm>
          <a:prstGeom prst="roundRect">
            <a:avLst>
              <a:gd name="adj" fmla="val 16279"/>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16" name="Shape 14"/>
          <p:cNvSpPr/>
          <p:nvPr/>
        </p:nvSpPr>
        <p:spPr>
          <a:xfrm>
            <a:off x="896112" y="4133088"/>
            <a:ext cx="402336" cy="402336"/>
          </a:xfrm>
          <a:prstGeom prst="ellipse">
            <a:avLst/>
          </a:prstGeom>
          <a:solidFill>
            <a:srgbClr val="16C89A"/>
          </a:solidFill>
          <a:ln w="12700">
            <a:solidFill>
              <a:srgbClr val="16C89A"/>
            </a:solidFill>
            <a:prstDash val="solid"/>
          </a:ln>
        </p:spPr>
      </p:sp>
      <p:sp>
        <p:nvSpPr>
          <p:cNvPr id="17" name="Text 15"/>
          <p:cNvSpPr/>
          <p:nvPr/>
        </p:nvSpPr>
        <p:spPr>
          <a:xfrm>
            <a:off x="896112" y="4133088"/>
            <a:ext cx="402336" cy="402336"/>
          </a:xfrm>
          <a:prstGeom prst="rect">
            <a:avLst/>
          </a:prstGeom>
          <a:noFill/>
          <a:ln/>
        </p:spPr>
        <p:txBody>
          <a:bodyPr wrap="square" lIns="0" tIns="0" rIns="0" bIns="0" rtlCol="0" anchor="ctr"/>
          <a:lstStyle/>
          <a:p>
            <a:pPr algn="ctr" indent="0" marL="0">
              <a:buNone/>
            </a:pPr>
            <a:r>
              <a:rPr lang="en-US" sz="1400" b="1" dirty="0">
                <a:solidFill>
                  <a:srgbClr val="0F1B3D"/>
                </a:solidFill>
                <a:latin typeface="Calibri" pitchFamily="34" charset="0"/>
                <a:ea typeface="Calibri" pitchFamily="34" charset="-122"/>
                <a:cs typeface="Calibri" pitchFamily="34" charset="-120"/>
              </a:rPr>
              <a:t>✓</a:t>
            </a:r>
            <a:endParaRPr lang="en-US" sz="1400" dirty="0"/>
          </a:p>
        </p:txBody>
      </p:sp>
      <p:sp>
        <p:nvSpPr>
          <p:cNvPr id="18" name="Text 16"/>
          <p:cNvSpPr/>
          <p:nvPr/>
        </p:nvSpPr>
        <p:spPr>
          <a:xfrm>
            <a:off x="1481328" y="4032504"/>
            <a:ext cx="3108960" cy="594360"/>
          </a:xfrm>
          <a:prstGeom prst="rect">
            <a:avLst/>
          </a:prstGeom>
          <a:noFill/>
          <a:ln/>
        </p:spPr>
        <p:txBody>
          <a:bodyPr wrap="square" lIns="0" tIns="0" rIns="0" bIns="0" rtlCol="0" anchor="ctr"/>
          <a:lstStyle/>
          <a:p>
            <a:pPr indent="0" marL="0">
              <a:buNone/>
            </a:pPr>
            <a:r>
              <a:rPr lang="en-US" sz="1400" b="1" dirty="0">
                <a:solidFill>
                  <a:srgbClr val="0F1B3D"/>
                </a:solidFill>
                <a:latin typeface="Calibri" pitchFamily="34" charset="0"/>
                <a:ea typeface="Calibri" pitchFamily="34" charset="-122"/>
                <a:cs typeface="Calibri" pitchFamily="34" charset="-120"/>
              </a:rPr>
              <a:t>Consent before visibility</a:t>
            </a:r>
            <a:endParaRPr lang="en-US" sz="1400" dirty="0"/>
          </a:p>
        </p:txBody>
      </p:sp>
      <p:sp>
        <p:nvSpPr>
          <p:cNvPr id="19" name="Text 17"/>
          <p:cNvSpPr/>
          <p:nvPr/>
        </p:nvSpPr>
        <p:spPr>
          <a:xfrm>
            <a:off x="4663440" y="4032504"/>
            <a:ext cx="6400800" cy="59436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A worker opts in explicitly before their profile is visible to employers, and can withdraw.</a:t>
            </a:r>
            <a:endParaRPr lang="en-US" sz="1250" dirty="0"/>
          </a:p>
        </p:txBody>
      </p:sp>
      <p:sp>
        <p:nvSpPr>
          <p:cNvPr id="20" name="Shape 18"/>
          <p:cNvSpPr/>
          <p:nvPr/>
        </p:nvSpPr>
        <p:spPr>
          <a:xfrm>
            <a:off x="640080" y="4837176"/>
            <a:ext cx="10607040" cy="786384"/>
          </a:xfrm>
          <a:prstGeom prst="roundRect">
            <a:avLst>
              <a:gd name="adj" fmla="val 16279"/>
            </a:avLst>
          </a:prstGeom>
          <a:solidFill>
            <a:srgbClr val="FFFFFF"/>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21" name="Shape 19"/>
          <p:cNvSpPr/>
          <p:nvPr/>
        </p:nvSpPr>
        <p:spPr>
          <a:xfrm>
            <a:off x="896112" y="5029200"/>
            <a:ext cx="402336" cy="402336"/>
          </a:xfrm>
          <a:prstGeom prst="ellipse">
            <a:avLst/>
          </a:prstGeom>
          <a:solidFill>
            <a:srgbClr val="16C89A"/>
          </a:solidFill>
          <a:ln w="12700">
            <a:solidFill>
              <a:srgbClr val="16C89A"/>
            </a:solidFill>
            <a:prstDash val="solid"/>
          </a:ln>
        </p:spPr>
      </p:sp>
      <p:sp>
        <p:nvSpPr>
          <p:cNvPr id="22" name="Text 20"/>
          <p:cNvSpPr/>
          <p:nvPr/>
        </p:nvSpPr>
        <p:spPr>
          <a:xfrm>
            <a:off x="896112" y="5029200"/>
            <a:ext cx="402336" cy="402336"/>
          </a:xfrm>
          <a:prstGeom prst="rect">
            <a:avLst/>
          </a:prstGeom>
          <a:noFill/>
          <a:ln/>
        </p:spPr>
        <p:txBody>
          <a:bodyPr wrap="square" lIns="0" tIns="0" rIns="0" bIns="0" rtlCol="0" anchor="ctr"/>
          <a:lstStyle/>
          <a:p>
            <a:pPr algn="ctr" indent="0" marL="0">
              <a:buNone/>
            </a:pPr>
            <a:r>
              <a:rPr lang="en-US" sz="1400" b="1" dirty="0">
                <a:solidFill>
                  <a:srgbClr val="0F1B3D"/>
                </a:solidFill>
                <a:latin typeface="Calibri" pitchFamily="34" charset="0"/>
                <a:ea typeface="Calibri" pitchFamily="34" charset="-122"/>
                <a:cs typeface="Calibri" pitchFamily="34" charset="-120"/>
              </a:rPr>
              <a:t>✓</a:t>
            </a:r>
            <a:endParaRPr lang="en-US" sz="1400" dirty="0"/>
          </a:p>
        </p:txBody>
      </p:sp>
      <p:sp>
        <p:nvSpPr>
          <p:cNvPr id="23" name="Text 21"/>
          <p:cNvSpPr/>
          <p:nvPr/>
        </p:nvSpPr>
        <p:spPr>
          <a:xfrm>
            <a:off x="1481328" y="4928616"/>
            <a:ext cx="3108960" cy="594360"/>
          </a:xfrm>
          <a:prstGeom prst="rect">
            <a:avLst/>
          </a:prstGeom>
          <a:noFill/>
          <a:ln/>
        </p:spPr>
        <p:txBody>
          <a:bodyPr wrap="square" lIns="0" tIns="0" rIns="0" bIns="0" rtlCol="0" anchor="ctr"/>
          <a:lstStyle/>
          <a:p>
            <a:pPr indent="0" marL="0">
              <a:buNone/>
            </a:pPr>
            <a:r>
              <a:rPr lang="en-US" sz="1400" b="1" dirty="0">
                <a:solidFill>
                  <a:srgbClr val="0F1B3D"/>
                </a:solidFill>
                <a:latin typeface="Calibri" pitchFamily="34" charset="0"/>
                <a:ea typeface="Calibri" pitchFamily="34" charset="-122"/>
                <a:cs typeface="Calibri" pitchFamily="34" charset="-120"/>
              </a:rPr>
              <a:t>No exclusivity over a worker</a:t>
            </a:r>
            <a:endParaRPr lang="en-US" sz="1400" dirty="0"/>
          </a:p>
        </p:txBody>
      </p:sp>
      <p:sp>
        <p:nvSpPr>
          <p:cNvPr id="24" name="Text 22"/>
          <p:cNvSpPr/>
          <p:nvPr/>
        </p:nvSpPr>
        <p:spPr>
          <a:xfrm>
            <a:off x="4663440" y="4928616"/>
            <a:ext cx="6400800" cy="59436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Candidates are never locked to one agency. They keep their CV and can take it anywhere.</a:t>
            </a:r>
            <a:endParaRPr lang="en-US" sz="1250" dirty="0"/>
          </a:p>
        </p:txBody>
      </p:sp>
      <p:sp>
        <p:nvSpPr>
          <p:cNvPr id="25" name="Text 23"/>
          <p:cNvSpPr/>
          <p:nvPr/>
        </p:nvSpPr>
        <p:spPr>
          <a:xfrm>
            <a:off x="640080" y="6400800"/>
            <a:ext cx="1828800" cy="228600"/>
          </a:xfrm>
          <a:prstGeom prst="rect">
            <a:avLst/>
          </a:prstGeom>
          <a:noFill/>
          <a:ln/>
        </p:spPr>
        <p:txBody>
          <a:bodyPr wrap="square" lIns="0" tIns="0" rIns="0" bIns="0" rtlCol="0" anchor="ctr"/>
          <a:lstStyle/>
          <a:p>
            <a:pPr indent="0" marL="0">
              <a:buNone/>
            </a:pPr>
            <a:r>
              <a:rPr lang="en-US" sz="900" dirty="0">
                <a:solidFill>
                  <a:srgbClr val="A6ADB8"/>
                </a:solidFill>
                <a:latin typeface="Calibri" pitchFamily="34" charset="0"/>
                <a:ea typeface="Calibri" pitchFamily="34" charset="-122"/>
                <a:cs typeface="Calibri" pitchFamily="34" charset="-120"/>
              </a:rPr>
              <a:t>Naatiq</a:t>
            </a:r>
            <a:endParaRPr lang="en-US" sz="900" dirty="0"/>
          </a:p>
        </p:txBody>
      </p:sp>
      <p:sp>
        <p:nvSpPr>
          <p:cNvPr id="26" name="Text 24"/>
          <p:cNvSpPr/>
          <p:nvPr/>
        </p:nvSpPr>
        <p:spPr>
          <a:xfrm>
            <a:off x="10607040" y="6400800"/>
            <a:ext cx="914400" cy="228600"/>
          </a:xfrm>
          <a:prstGeom prst="rect">
            <a:avLst/>
          </a:prstGeom>
          <a:noFill/>
          <a:ln/>
        </p:spPr>
        <p:txBody>
          <a:bodyPr wrap="square" lIns="0" tIns="0" rIns="0" bIns="0" rtlCol="0" anchor="ctr"/>
          <a:lstStyle/>
          <a:p>
            <a:pPr algn="r" indent="0" marL="0">
              <a:buNone/>
            </a:pPr>
            <a:r>
              <a:rPr lang="en-US" sz="900" dirty="0">
                <a:solidFill>
                  <a:srgbClr val="A6ADB8"/>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F5FFF"/>
                </a:solidFill>
                <a:latin typeface="Calibri" pitchFamily="34" charset="0"/>
                <a:ea typeface="Calibri" pitchFamily="34" charset="-122"/>
                <a:cs typeface="Calibri" pitchFamily="34" charset="-120"/>
              </a:rPr>
              <a:t>GO TO MARKET</a:t>
            </a:r>
            <a:endParaRPr lang="en-US" sz="1100" dirty="0"/>
          </a:p>
        </p:txBody>
      </p:sp>
      <p:sp>
        <p:nvSpPr>
          <p:cNvPr id="3" name="Text 1"/>
          <p:cNvSpPr/>
          <p:nvPr/>
        </p:nvSpPr>
        <p:spPr>
          <a:xfrm>
            <a:off x="640080" y="658368"/>
            <a:ext cx="10881360" cy="658368"/>
          </a:xfrm>
          <a:prstGeom prst="rect">
            <a:avLst/>
          </a:prstGeom>
          <a:noFill/>
          <a:ln/>
        </p:spPr>
        <p:txBody>
          <a:bodyPr wrap="square" lIns="0" tIns="0" rIns="0" bIns="0" rtlCol="0" anchor="ctr"/>
          <a:lstStyle/>
          <a:p>
            <a:pPr indent="0" marL="0">
              <a:buNone/>
            </a:pPr>
            <a:r>
              <a:rPr lang="en-US" sz="3400" b="1" dirty="0">
                <a:solidFill>
                  <a:srgbClr val="0F1B3D"/>
                </a:solidFill>
                <a:latin typeface="Calibri" pitchFamily="34" charset="0"/>
                <a:ea typeface="Calibri" pitchFamily="34" charset="-122"/>
                <a:cs typeface="Calibri" pitchFamily="34" charset="-120"/>
              </a:rPr>
              <a:t>Land narrow, expand by occupation and geography</a:t>
            </a:r>
            <a:endParaRPr lang="en-US" sz="3400" dirty="0"/>
          </a:p>
        </p:txBody>
      </p:sp>
      <p:sp>
        <p:nvSpPr>
          <p:cNvPr id="4" name="Shape 2"/>
          <p:cNvSpPr/>
          <p:nvPr/>
        </p:nvSpPr>
        <p:spPr>
          <a:xfrm>
            <a:off x="640080" y="2286000"/>
            <a:ext cx="3429000" cy="2286000"/>
          </a:xfrm>
          <a:prstGeom prst="roundRect">
            <a:avLst>
              <a:gd name="adj" fmla="val 5600"/>
            </a:avLst>
          </a:prstGeom>
          <a:solidFill>
            <a:srgbClr val="0F1B3D"/>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5" name="Text 3"/>
          <p:cNvSpPr/>
          <p:nvPr/>
        </p:nvSpPr>
        <p:spPr>
          <a:xfrm>
            <a:off x="914400" y="2514600"/>
            <a:ext cx="914400" cy="320040"/>
          </a:xfrm>
          <a:prstGeom prst="rect">
            <a:avLst/>
          </a:prstGeom>
          <a:noFill/>
          <a:ln/>
        </p:spPr>
        <p:txBody>
          <a:bodyPr wrap="square" lIns="0" tIns="0" rIns="0" bIns="0" rtlCol="0" anchor="ctr"/>
          <a:lstStyle/>
          <a:p>
            <a:pPr indent="0" marL="0">
              <a:buNone/>
            </a:pPr>
            <a:r>
              <a:rPr lang="en-US" sz="1300" b="1" dirty="0">
                <a:solidFill>
                  <a:srgbClr val="16C89A"/>
                </a:solidFill>
                <a:latin typeface="Calibri" pitchFamily="34" charset="0"/>
                <a:ea typeface="Calibri" pitchFamily="34" charset="-122"/>
                <a:cs typeface="Calibri" pitchFamily="34" charset="-120"/>
              </a:rPr>
              <a:t>01</a:t>
            </a:r>
            <a:endParaRPr lang="en-US" sz="1300" dirty="0"/>
          </a:p>
        </p:txBody>
      </p:sp>
      <p:sp>
        <p:nvSpPr>
          <p:cNvPr id="6" name="Text 4"/>
          <p:cNvSpPr/>
          <p:nvPr/>
        </p:nvSpPr>
        <p:spPr>
          <a:xfrm>
            <a:off x="914400" y="2880360"/>
            <a:ext cx="283464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Land</a:t>
            </a:r>
            <a:endParaRPr lang="en-US" sz="2000" dirty="0"/>
          </a:p>
        </p:txBody>
      </p:sp>
      <p:sp>
        <p:nvSpPr>
          <p:cNvPr id="7" name="Text 5"/>
          <p:cNvSpPr/>
          <p:nvPr/>
        </p:nvSpPr>
        <p:spPr>
          <a:xfrm>
            <a:off x="914400" y="3337560"/>
            <a:ext cx="2880360" cy="1097280"/>
          </a:xfrm>
          <a:prstGeom prst="rect">
            <a:avLst/>
          </a:prstGeom>
          <a:noFill/>
          <a:ln/>
        </p:spPr>
        <p:txBody>
          <a:bodyPr wrap="square" lIns="0" tIns="0" rIns="0" bIns="0" rtlCol="0" anchor="ctr"/>
          <a:lstStyle/>
          <a:p>
            <a:pPr indent="0" marL="0">
              <a:buNone/>
            </a:pPr>
            <a:r>
              <a:rPr lang="en-US" sz="1250" dirty="0">
                <a:solidFill>
                  <a:srgbClr val="BFCCE5"/>
                </a:solidFill>
                <a:latin typeface="Calibri" pitchFamily="34" charset="0"/>
                <a:ea typeface="Calibri" pitchFamily="34" charset="-122"/>
                <a:cs typeface="Calibri" pitchFamily="34" charset="-120"/>
              </a:rPr>
              <a:t>One agency, one high-volume occupation, one city. Prove time-to-fill against their current process.</a:t>
            </a:r>
            <a:endParaRPr lang="en-US" sz="1250" dirty="0"/>
          </a:p>
        </p:txBody>
      </p:sp>
      <p:sp>
        <p:nvSpPr>
          <p:cNvPr id="8" name="Shape 6"/>
          <p:cNvSpPr/>
          <p:nvPr/>
        </p:nvSpPr>
        <p:spPr>
          <a:xfrm>
            <a:off x="4343400" y="2286000"/>
            <a:ext cx="3429000" cy="2286000"/>
          </a:xfrm>
          <a:prstGeom prst="roundRect">
            <a:avLst>
              <a:gd name="adj" fmla="val 5600"/>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9" name="Text 7"/>
          <p:cNvSpPr/>
          <p:nvPr/>
        </p:nvSpPr>
        <p:spPr>
          <a:xfrm>
            <a:off x="4617720" y="2514600"/>
            <a:ext cx="914400" cy="320040"/>
          </a:xfrm>
          <a:prstGeom prst="rect">
            <a:avLst/>
          </a:prstGeom>
          <a:noFill/>
          <a:ln/>
        </p:spPr>
        <p:txBody>
          <a:bodyPr wrap="square" lIns="0" tIns="0" rIns="0" bIns="0" rtlCol="0" anchor="ctr"/>
          <a:lstStyle/>
          <a:p>
            <a:pPr indent="0" marL="0">
              <a:buNone/>
            </a:pPr>
            <a:r>
              <a:rPr lang="en-US" sz="1300" b="1" dirty="0">
                <a:solidFill>
                  <a:srgbClr val="A6ADB8"/>
                </a:solidFill>
                <a:latin typeface="Calibri" pitchFamily="34" charset="0"/>
                <a:ea typeface="Calibri" pitchFamily="34" charset="-122"/>
                <a:cs typeface="Calibri" pitchFamily="34" charset="-120"/>
              </a:rPr>
              <a:t>02</a:t>
            </a:r>
            <a:endParaRPr lang="en-US" sz="1300" dirty="0"/>
          </a:p>
        </p:txBody>
      </p:sp>
      <p:sp>
        <p:nvSpPr>
          <p:cNvPr id="10" name="Text 8"/>
          <p:cNvSpPr/>
          <p:nvPr/>
        </p:nvSpPr>
        <p:spPr>
          <a:xfrm>
            <a:off x="4617720" y="2880360"/>
            <a:ext cx="2834640" cy="365760"/>
          </a:xfrm>
          <a:prstGeom prst="rect">
            <a:avLst/>
          </a:prstGeom>
          <a:noFill/>
          <a:ln/>
        </p:spPr>
        <p:txBody>
          <a:bodyPr wrap="square" lIns="0" tIns="0" rIns="0" bIns="0" rtlCol="0" anchor="ctr"/>
          <a:lstStyle/>
          <a:p>
            <a:pPr indent="0" marL="0">
              <a:buNone/>
            </a:pPr>
            <a:r>
              <a:rPr lang="en-US" sz="2000" b="1" dirty="0">
                <a:solidFill>
                  <a:srgbClr val="0F1B3D"/>
                </a:solidFill>
                <a:latin typeface="Calibri" pitchFamily="34" charset="0"/>
                <a:ea typeface="Calibri" pitchFamily="34" charset="-122"/>
                <a:cs typeface="Calibri" pitchFamily="34" charset="-120"/>
              </a:rPr>
              <a:t>Expand</a:t>
            </a:r>
            <a:endParaRPr lang="en-US" sz="2000" dirty="0"/>
          </a:p>
        </p:txBody>
      </p:sp>
      <p:sp>
        <p:nvSpPr>
          <p:cNvPr id="11" name="Text 9"/>
          <p:cNvSpPr/>
          <p:nvPr/>
        </p:nvSpPr>
        <p:spPr>
          <a:xfrm>
            <a:off x="4617720" y="3337560"/>
            <a:ext cx="2880360" cy="109728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More occupations, more seats, then integration into their ATS. Add the success fee once trust exists.</a:t>
            </a:r>
            <a:endParaRPr lang="en-US" sz="1250" dirty="0"/>
          </a:p>
        </p:txBody>
      </p:sp>
      <p:sp>
        <p:nvSpPr>
          <p:cNvPr id="12" name="Shape 10"/>
          <p:cNvSpPr/>
          <p:nvPr/>
        </p:nvSpPr>
        <p:spPr>
          <a:xfrm>
            <a:off x="8046720" y="2286000"/>
            <a:ext cx="3429000" cy="2286000"/>
          </a:xfrm>
          <a:prstGeom prst="roundRect">
            <a:avLst>
              <a:gd name="adj" fmla="val 5600"/>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13" name="Text 11"/>
          <p:cNvSpPr/>
          <p:nvPr/>
        </p:nvSpPr>
        <p:spPr>
          <a:xfrm>
            <a:off x="8321040" y="2514600"/>
            <a:ext cx="914400" cy="320040"/>
          </a:xfrm>
          <a:prstGeom prst="rect">
            <a:avLst/>
          </a:prstGeom>
          <a:noFill/>
          <a:ln/>
        </p:spPr>
        <p:txBody>
          <a:bodyPr wrap="square" lIns="0" tIns="0" rIns="0" bIns="0" rtlCol="0" anchor="ctr"/>
          <a:lstStyle/>
          <a:p>
            <a:pPr indent="0" marL="0">
              <a:buNone/>
            </a:pPr>
            <a:r>
              <a:rPr lang="en-US" sz="1300" b="1" dirty="0">
                <a:solidFill>
                  <a:srgbClr val="A6ADB8"/>
                </a:solidFill>
                <a:latin typeface="Calibri" pitchFamily="34" charset="0"/>
                <a:ea typeface="Calibri" pitchFamily="34" charset="-122"/>
                <a:cs typeface="Calibri" pitchFamily="34" charset="-120"/>
              </a:rPr>
              <a:t>03</a:t>
            </a:r>
            <a:endParaRPr lang="en-US" sz="1300" dirty="0"/>
          </a:p>
        </p:txBody>
      </p:sp>
      <p:sp>
        <p:nvSpPr>
          <p:cNvPr id="14" name="Text 12"/>
          <p:cNvSpPr/>
          <p:nvPr/>
        </p:nvSpPr>
        <p:spPr>
          <a:xfrm>
            <a:off x="8321040" y="2880360"/>
            <a:ext cx="2834640" cy="365760"/>
          </a:xfrm>
          <a:prstGeom prst="rect">
            <a:avLst/>
          </a:prstGeom>
          <a:noFill/>
          <a:ln/>
        </p:spPr>
        <p:txBody>
          <a:bodyPr wrap="square" lIns="0" tIns="0" rIns="0" bIns="0" rtlCol="0" anchor="ctr"/>
          <a:lstStyle/>
          <a:p>
            <a:pPr indent="0" marL="0">
              <a:buNone/>
            </a:pPr>
            <a:r>
              <a:rPr lang="en-US" sz="2000" b="1" dirty="0">
                <a:solidFill>
                  <a:srgbClr val="0F1B3D"/>
                </a:solidFill>
                <a:latin typeface="Calibri" pitchFamily="34" charset="0"/>
                <a:ea typeface="Calibri" pitchFamily="34" charset="-122"/>
                <a:cs typeface="Calibri" pitchFamily="34" charset="-120"/>
              </a:rPr>
              <a:t>Extend</a:t>
            </a:r>
            <a:endParaRPr lang="en-US" sz="2000" dirty="0"/>
          </a:p>
        </p:txBody>
      </p:sp>
      <p:sp>
        <p:nvSpPr>
          <p:cNvPr id="15" name="Text 13"/>
          <p:cNvSpPr/>
          <p:nvPr/>
        </p:nvSpPr>
        <p:spPr>
          <a:xfrm>
            <a:off x="8321040" y="3337560"/>
            <a:ext cx="2880360" cy="109728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New languages open new labour corridors. Programme and analytics revenue follows the scale of the pool.</a:t>
            </a:r>
            <a:endParaRPr lang="en-US" sz="1250" dirty="0"/>
          </a:p>
        </p:txBody>
      </p:sp>
      <p:sp>
        <p:nvSpPr>
          <p:cNvPr id="16" name="Text 14"/>
          <p:cNvSpPr/>
          <p:nvPr/>
        </p:nvSpPr>
        <p:spPr>
          <a:xfrm>
            <a:off x="640080" y="4892040"/>
            <a:ext cx="10515600" cy="411480"/>
          </a:xfrm>
          <a:prstGeom prst="rect">
            <a:avLst/>
          </a:prstGeom>
          <a:noFill/>
          <a:ln/>
        </p:spPr>
        <p:txBody>
          <a:bodyPr wrap="square" lIns="0" tIns="0" rIns="0" bIns="0" rtlCol="0" anchor="ctr"/>
          <a:lstStyle/>
          <a:p>
            <a:pPr indent="0" marL="0">
              <a:buNone/>
            </a:pPr>
            <a:r>
              <a:rPr lang="en-US" sz="1600" b="1" dirty="0">
                <a:solidFill>
                  <a:srgbClr val="2F5FFF"/>
                </a:solidFill>
                <a:latin typeface="Calibri" pitchFamily="34" charset="0"/>
                <a:ea typeface="Calibri" pitchFamily="34" charset="-122"/>
                <a:cs typeface="Calibri" pitchFamily="34" charset="-120"/>
              </a:rPr>
              <a:t>The pool is the moat. Every conversation makes the next sale easier and the product harder to replicate.</a:t>
            </a:r>
            <a:endParaRPr lang="en-US" sz="1600" dirty="0"/>
          </a:p>
        </p:txBody>
      </p:sp>
      <p:sp>
        <p:nvSpPr>
          <p:cNvPr id="17" name="Text 15"/>
          <p:cNvSpPr/>
          <p:nvPr/>
        </p:nvSpPr>
        <p:spPr>
          <a:xfrm>
            <a:off x="640080" y="6400800"/>
            <a:ext cx="1828800" cy="228600"/>
          </a:xfrm>
          <a:prstGeom prst="rect">
            <a:avLst/>
          </a:prstGeom>
          <a:noFill/>
          <a:ln/>
        </p:spPr>
        <p:txBody>
          <a:bodyPr wrap="square" lIns="0" tIns="0" rIns="0" bIns="0" rtlCol="0" anchor="ctr"/>
          <a:lstStyle/>
          <a:p>
            <a:pPr indent="0" marL="0">
              <a:buNone/>
            </a:pPr>
            <a:r>
              <a:rPr lang="en-US" sz="900" dirty="0">
                <a:solidFill>
                  <a:srgbClr val="A6ADB8"/>
                </a:solidFill>
                <a:latin typeface="Calibri" pitchFamily="34" charset="0"/>
                <a:ea typeface="Calibri" pitchFamily="34" charset="-122"/>
                <a:cs typeface="Calibri" pitchFamily="34" charset="-120"/>
              </a:rPr>
              <a:t>Naatiq</a:t>
            </a:r>
            <a:endParaRPr lang="en-US" sz="900" dirty="0"/>
          </a:p>
        </p:txBody>
      </p:sp>
      <p:sp>
        <p:nvSpPr>
          <p:cNvPr id="18" name="Text 16"/>
          <p:cNvSpPr/>
          <p:nvPr/>
        </p:nvSpPr>
        <p:spPr>
          <a:xfrm>
            <a:off x="10607040" y="6400800"/>
            <a:ext cx="914400" cy="228600"/>
          </a:xfrm>
          <a:prstGeom prst="rect">
            <a:avLst/>
          </a:prstGeom>
          <a:noFill/>
          <a:ln/>
        </p:spPr>
        <p:txBody>
          <a:bodyPr wrap="square" lIns="0" tIns="0" rIns="0" bIns="0" rtlCol="0" anchor="ctr"/>
          <a:lstStyle/>
          <a:p>
            <a:pPr algn="r" indent="0" marL="0">
              <a:buNone/>
            </a:pPr>
            <a:r>
              <a:rPr lang="en-US" sz="900" dirty="0">
                <a:solidFill>
                  <a:srgbClr val="A6ADB8"/>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F5FFF"/>
                </a:solidFill>
                <a:latin typeface="Calibri" pitchFamily="34" charset="0"/>
                <a:ea typeface="Calibri" pitchFamily="34" charset="-122"/>
                <a:cs typeface="Calibri" pitchFamily="34" charset="-120"/>
              </a:rPr>
              <a:t>WHERE WE ARE</a:t>
            </a:r>
            <a:endParaRPr lang="en-US" sz="1100" dirty="0"/>
          </a:p>
        </p:txBody>
      </p:sp>
      <p:sp>
        <p:nvSpPr>
          <p:cNvPr id="3" name="Text 1"/>
          <p:cNvSpPr/>
          <p:nvPr/>
        </p:nvSpPr>
        <p:spPr>
          <a:xfrm>
            <a:off x="640080" y="658368"/>
            <a:ext cx="10881360" cy="658368"/>
          </a:xfrm>
          <a:prstGeom prst="rect">
            <a:avLst/>
          </a:prstGeom>
          <a:noFill/>
          <a:ln/>
        </p:spPr>
        <p:txBody>
          <a:bodyPr wrap="square" lIns="0" tIns="0" rIns="0" bIns="0" rtlCol="0" anchor="ctr"/>
          <a:lstStyle/>
          <a:p>
            <a:pPr indent="0" marL="0">
              <a:buNone/>
            </a:pPr>
            <a:r>
              <a:rPr lang="en-US" sz="3400" b="1" dirty="0">
                <a:solidFill>
                  <a:srgbClr val="0F1B3D"/>
                </a:solidFill>
                <a:latin typeface="Calibri" pitchFamily="34" charset="0"/>
                <a:ea typeface="Calibri" pitchFamily="34" charset="-122"/>
                <a:cs typeface="Calibri" pitchFamily="34" charset="-120"/>
              </a:rPr>
              <a:t>What is built, and what is not</a:t>
            </a:r>
            <a:endParaRPr lang="en-US" sz="3400" dirty="0"/>
          </a:p>
        </p:txBody>
      </p:sp>
      <p:sp>
        <p:nvSpPr>
          <p:cNvPr id="4" name="Text 2"/>
          <p:cNvSpPr/>
          <p:nvPr/>
        </p:nvSpPr>
        <p:spPr>
          <a:xfrm>
            <a:off x="640080" y="1335024"/>
            <a:ext cx="10332720" cy="457200"/>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Stated plainly, because the gaps are what a partnership would close first.</a:t>
            </a:r>
            <a:endParaRPr lang="en-US" sz="1500" dirty="0"/>
          </a:p>
        </p:txBody>
      </p:sp>
      <p:sp>
        <p:nvSpPr>
          <p:cNvPr id="5" name="Shape 3"/>
          <p:cNvSpPr/>
          <p:nvPr/>
        </p:nvSpPr>
        <p:spPr>
          <a:xfrm>
            <a:off x="640080" y="2194560"/>
            <a:ext cx="5120640" cy="2926080"/>
          </a:xfrm>
          <a:prstGeom prst="roundRect">
            <a:avLst>
              <a:gd name="adj" fmla="val 4375"/>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6" name="Text 4"/>
          <p:cNvSpPr/>
          <p:nvPr/>
        </p:nvSpPr>
        <p:spPr>
          <a:xfrm>
            <a:off x="960120" y="2450592"/>
            <a:ext cx="4572000" cy="292608"/>
          </a:xfrm>
          <a:prstGeom prst="rect">
            <a:avLst/>
          </a:prstGeom>
          <a:noFill/>
          <a:ln/>
        </p:spPr>
        <p:txBody>
          <a:bodyPr wrap="square" lIns="0" tIns="0" rIns="0" bIns="0" rtlCol="0" anchor="ctr"/>
          <a:lstStyle/>
          <a:p>
            <a:pPr indent="0" marL="0">
              <a:buNone/>
            </a:pPr>
            <a:r>
              <a:rPr lang="en-US" sz="1600" b="1" dirty="0">
                <a:solidFill>
                  <a:srgbClr val="16C89A"/>
                </a:solidFill>
                <a:latin typeface="Calibri" pitchFamily="34" charset="0"/>
                <a:ea typeface="Calibri" pitchFamily="34" charset="-122"/>
                <a:cs typeface="Calibri" pitchFamily="34" charset="-120"/>
              </a:rPr>
              <a:t>Working today</a:t>
            </a:r>
            <a:endParaRPr lang="en-US" sz="1600" dirty="0"/>
          </a:p>
        </p:txBody>
      </p:sp>
      <p:sp>
        <p:nvSpPr>
          <p:cNvPr id="7" name="Text 5"/>
          <p:cNvSpPr/>
          <p:nvPr/>
        </p:nvSpPr>
        <p:spPr>
          <a:xfrm>
            <a:off x="960120" y="2834640"/>
            <a:ext cx="4572000" cy="201168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5B6472"/>
                </a:solidFill>
                <a:latin typeface="Calibri" pitchFamily="34" charset="0"/>
                <a:ea typeface="Calibri" pitchFamily="34" charset="-122"/>
                <a:cs typeface="Calibri" pitchFamily="34" charset="-120"/>
              </a:rPr>
              <a:t>Voice note to bilingual CV, end to end</a:t>
            </a:r>
            <a:endParaRPr lang="en-US" sz="1300" dirty="0"/>
          </a:p>
          <a:p>
            <a:pPr marL="342900" indent="-342900">
              <a:spcAft>
                <a:spcPts val="700"/>
              </a:spcAft>
              <a:buSzPct val="100000"/>
              <a:buChar char="•"/>
            </a:pPr>
            <a:r>
              <a:rPr lang="en-US" sz="1300" dirty="0">
                <a:solidFill>
                  <a:srgbClr val="5B6472"/>
                </a:solidFill>
                <a:latin typeface="Calibri" pitchFamily="34" charset="0"/>
                <a:ea typeface="Calibri" pitchFamily="34" charset="-122"/>
                <a:cs typeface="Calibri" pitchFamily="34" charset="-120"/>
              </a:rPr>
              <a:t>Structured profiles with occupations grouped</a:t>
            </a:r>
            <a:endParaRPr lang="en-US" sz="1300" dirty="0"/>
          </a:p>
          <a:p>
            <a:pPr marL="342900" indent="-342900">
              <a:spcAft>
                <a:spcPts val="700"/>
              </a:spcAft>
              <a:buSzPct val="100000"/>
              <a:buChar char="•"/>
            </a:pPr>
            <a:r>
              <a:rPr lang="en-US" sz="1300" dirty="0">
                <a:solidFill>
                  <a:srgbClr val="5B6472"/>
                </a:solidFill>
                <a:latin typeface="Calibri" pitchFamily="34" charset="0"/>
                <a:ea typeface="Calibri" pitchFamily="34" charset="-122"/>
                <a:cs typeface="Calibri" pitchFamily="34" charset="-120"/>
              </a:rPr>
              <a:t>Employer portal and live impact dashboard</a:t>
            </a:r>
            <a:endParaRPr lang="en-US" sz="1300" dirty="0"/>
          </a:p>
          <a:p>
            <a:pPr marL="342900" indent="-342900">
              <a:spcAft>
                <a:spcPts val="700"/>
              </a:spcAft>
              <a:buSzPct val="100000"/>
              <a:buChar char="•"/>
            </a:pPr>
            <a:r>
              <a:rPr lang="en-US" sz="1300" dirty="0">
                <a:solidFill>
                  <a:srgbClr val="5B6472"/>
                </a:solidFill>
                <a:latin typeface="Calibri" pitchFamily="34" charset="0"/>
                <a:ea typeface="Calibri" pitchFamily="34" charset="-122"/>
                <a:cs typeface="Calibri" pitchFamily="34" charset="-120"/>
              </a:rPr>
              <a:t>Privacy enforced at the database level</a:t>
            </a:r>
            <a:endParaRPr lang="en-US" sz="1300" dirty="0"/>
          </a:p>
        </p:txBody>
      </p:sp>
      <p:sp>
        <p:nvSpPr>
          <p:cNvPr id="8" name="Shape 6"/>
          <p:cNvSpPr/>
          <p:nvPr/>
        </p:nvSpPr>
        <p:spPr>
          <a:xfrm>
            <a:off x="6172200" y="2194560"/>
            <a:ext cx="5074920" cy="2926080"/>
          </a:xfrm>
          <a:prstGeom prst="roundRect">
            <a:avLst>
              <a:gd name="adj" fmla="val 4375"/>
            </a:avLst>
          </a:prstGeom>
          <a:solidFill>
            <a:srgbClr val="F3F5F9"/>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9" name="Text 7"/>
          <p:cNvSpPr/>
          <p:nvPr/>
        </p:nvSpPr>
        <p:spPr>
          <a:xfrm>
            <a:off x="6492240" y="2450592"/>
            <a:ext cx="4572000" cy="292608"/>
          </a:xfrm>
          <a:prstGeom prst="rect">
            <a:avLst/>
          </a:prstGeom>
          <a:noFill/>
          <a:ln/>
        </p:spPr>
        <p:txBody>
          <a:bodyPr wrap="square" lIns="0" tIns="0" rIns="0" bIns="0" rtlCol="0" anchor="ctr"/>
          <a:lstStyle/>
          <a:p>
            <a:pPr indent="0" marL="0">
              <a:buNone/>
            </a:pPr>
            <a:r>
              <a:rPr lang="en-US" sz="1600" b="1" dirty="0">
                <a:solidFill>
                  <a:srgbClr val="0F1B3D"/>
                </a:solidFill>
                <a:latin typeface="Calibri" pitchFamily="34" charset="0"/>
                <a:ea typeface="Calibri" pitchFamily="34" charset="-122"/>
                <a:cs typeface="Calibri" pitchFamily="34" charset="-120"/>
              </a:rPr>
              <a:t>Not yet done</a:t>
            </a:r>
            <a:endParaRPr lang="en-US" sz="1600" dirty="0"/>
          </a:p>
        </p:txBody>
      </p:sp>
      <p:sp>
        <p:nvSpPr>
          <p:cNvPr id="10" name="Text 8"/>
          <p:cNvSpPr/>
          <p:nvPr/>
        </p:nvSpPr>
        <p:spPr>
          <a:xfrm>
            <a:off x="6492240" y="2834640"/>
            <a:ext cx="4480560" cy="201168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5B6472"/>
                </a:solidFill>
                <a:latin typeface="Calibri" pitchFamily="34" charset="0"/>
                <a:ea typeface="Calibri" pitchFamily="34" charset="-122"/>
                <a:cs typeface="Calibri" pitchFamily="34" charset="-120"/>
              </a:rPr>
              <a:t>Arabic voice replies — built, behind a paid-plan flag</a:t>
            </a:r>
            <a:endParaRPr lang="en-US" sz="1300" dirty="0"/>
          </a:p>
          <a:p>
            <a:pPr marL="342900" indent="-342900">
              <a:spcAft>
                <a:spcPts val="700"/>
              </a:spcAft>
              <a:buSzPct val="100000"/>
              <a:buChar char="•"/>
            </a:pPr>
            <a:r>
              <a:rPr lang="en-US" sz="1300" dirty="0">
                <a:solidFill>
                  <a:srgbClr val="5B6472"/>
                </a:solidFill>
                <a:latin typeface="Calibri" pitchFamily="34" charset="0"/>
                <a:ea typeface="Calibri" pitchFamily="34" charset="-122"/>
                <a:cs typeface="Calibri" pitchFamily="34" charset="-120"/>
              </a:rPr>
              <a:t>Job matching and interview practice</a:t>
            </a:r>
            <a:endParaRPr lang="en-US" sz="1300" dirty="0"/>
          </a:p>
          <a:p>
            <a:pPr marL="342900" indent="-342900">
              <a:spcAft>
                <a:spcPts val="700"/>
              </a:spcAft>
              <a:buSzPct val="100000"/>
              <a:buChar char="•"/>
            </a:pPr>
            <a:r>
              <a:rPr lang="en-US" sz="1300" dirty="0">
                <a:solidFill>
                  <a:srgbClr val="5B6472"/>
                </a:solidFill>
                <a:latin typeface="Calibri" pitchFamily="34" charset="0"/>
                <a:ea typeface="Calibri" pitchFamily="34" charset="-122"/>
                <a:cs typeface="Calibri" pitchFamily="34" charset="-120"/>
              </a:rPr>
              <a:t>Private CV storage with signed links</a:t>
            </a:r>
            <a:endParaRPr lang="en-US" sz="1300" dirty="0"/>
          </a:p>
          <a:p>
            <a:pPr marL="342900" indent="-342900">
              <a:spcAft>
                <a:spcPts val="700"/>
              </a:spcAft>
              <a:buSzPct val="100000"/>
              <a:buChar char="•"/>
            </a:pPr>
            <a:r>
              <a:rPr lang="en-US" sz="1300" dirty="0">
                <a:solidFill>
                  <a:srgbClr val="5B6472"/>
                </a:solidFill>
                <a:latin typeface="Calibri" pitchFamily="34" charset="0"/>
                <a:ea typeface="Calibri" pitchFamily="34" charset="-122"/>
                <a:cs typeface="Calibri" pitchFamily="34" charset="-120"/>
              </a:rPr>
              <a:t>Languages beyond Arabic; load testing at scale</a:t>
            </a:r>
            <a:endParaRPr lang="en-US" sz="1300" dirty="0"/>
          </a:p>
        </p:txBody>
      </p:sp>
      <p:sp>
        <p:nvSpPr>
          <p:cNvPr id="11" name="Shape 9"/>
          <p:cNvSpPr/>
          <p:nvPr/>
        </p:nvSpPr>
        <p:spPr>
          <a:xfrm>
            <a:off x="640080" y="5303520"/>
            <a:ext cx="10607040" cy="868680"/>
          </a:xfrm>
          <a:prstGeom prst="roundRect">
            <a:avLst>
              <a:gd name="adj" fmla="val 14737"/>
            </a:avLst>
          </a:prstGeom>
          <a:solidFill>
            <a:srgbClr val="0F1B3D"/>
          </a:solidFill>
          <a:ln w="12700">
            <a:solidFill>
              <a:srgbClr val="E7EAEF"/>
            </a:solidFill>
            <a:prstDash val="solid"/>
          </a:ln>
          <a:effectLst>
            <a:outerShdw sx="100000" sy="100000" kx="0" ky="0" algn="bl" rotWithShape="0" blurRad="177800" dist="38100" dir="5400000">
              <a:srgbClr val="0F1B3D">
                <a:alpha val="10000"/>
              </a:srgbClr>
            </a:outerShdw>
          </a:effectLst>
        </p:spPr>
      </p:sp>
      <p:sp>
        <p:nvSpPr>
          <p:cNvPr id="12" name="Text 10"/>
          <p:cNvSpPr/>
          <p:nvPr/>
        </p:nvSpPr>
        <p:spPr>
          <a:xfrm>
            <a:off x="1005840" y="5468112"/>
            <a:ext cx="9875520" cy="5486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Every part of this — the agent, the CV engine, the portals, the database and this deck — was designed and built end to end with Claude Cowork.</a:t>
            </a:r>
            <a:endParaRPr lang="en-US" sz="1350" dirty="0"/>
          </a:p>
        </p:txBody>
      </p:sp>
      <p:sp>
        <p:nvSpPr>
          <p:cNvPr id="13" name="Text 11"/>
          <p:cNvSpPr/>
          <p:nvPr/>
        </p:nvSpPr>
        <p:spPr>
          <a:xfrm>
            <a:off x="640080" y="6400800"/>
            <a:ext cx="1828800" cy="228600"/>
          </a:xfrm>
          <a:prstGeom prst="rect">
            <a:avLst/>
          </a:prstGeom>
          <a:noFill/>
          <a:ln/>
        </p:spPr>
        <p:txBody>
          <a:bodyPr wrap="square" lIns="0" tIns="0" rIns="0" bIns="0" rtlCol="0" anchor="ctr"/>
          <a:lstStyle/>
          <a:p>
            <a:pPr indent="0" marL="0">
              <a:buNone/>
            </a:pPr>
            <a:r>
              <a:rPr lang="en-US" sz="900" dirty="0">
                <a:solidFill>
                  <a:srgbClr val="A6ADB8"/>
                </a:solidFill>
                <a:latin typeface="Calibri" pitchFamily="34" charset="0"/>
                <a:ea typeface="Calibri" pitchFamily="34" charset="-122"/>
                <a:cs typeface="Calibri" pitchFamily="34" charset="-120"/>
              </a:rPr>
              <a:t>Naatiq</a:t>
            </a:r>
            <a:endParaRPr lang="en-US" sz="900" dirty="0"/>
          </a:p>
        </p:txBody>
      </p:sp>
      <p:sp>
        <p:nvSpPr>
          <p:cNvPr id="14" name="Text 12"/>
          <p:cNvSpPr/>
          <p:nvPr/>
        </p:nvSpPr>
        <p:spPr>
          <a:xfrm>
            <a:off x="10607040" y="6400800"/>
            <a:ext cx="914400" cy="228600"/>
          </a:xfrm>
          <a:prstGeom prst="rect">
            <a:avLst/>
          </a:prstGeom>
          <a:noFill/>
          <a:ln/>
        </p:spPr>
        <p:txBody>
          <a:bodyPr wrap="square" lIns="0" tIns="0" rIns="0" bIns="0" rtlCol="0" anchor="ctr"/>
          <a:lstStyle/>
          <a:p>
            <a:pPr algn="r" indent="0" marL="0">
              <a:buNone/>
            </a:pPr>
            <a:r>
              <a:rPr lang="en-US" sz="900" dirty="0">
                <a:solidFill>
                  <a:srgbClr val="A6ADB8"/>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B3D"/>
        </a:solidFill>
      </p:bgPr>
    </p:bg>
    <p:spTree>
      <p:nvGrpSpPr>
        <p:cNvPr id="1" name=""/>
        <p:cNvGrpSpPr/>
        <p:nvPr/>
      </p:nvGrpSpPr>
      <p:grpSpPr>
        <a:xfrm>
          <a:off x="0" y="0"/>
          <a:ext cx="0" cy="0"/>
          <a:chOff x="0" y="0"/>
          <a:chExt cx="0" cy="0"/>
        </a:xfrm>
      </p:grpSpPr>
      <p:sp>
        <p:nvSpPr>
          <p:cNvPr id="2" name="Text 0"/>
          <p:cNvSpPr/>
          <p:nvPr/>
        </p:nvSpPr>
        <p:spPr>
          <a:xfrm>
            <a:off x="640080" y="1828800"/>
            <a:ext cx="10515600" cy="914400"/>
          </a:xfrm>
          <a:prstGeom prst="rect">
            <a:avLst/>
          </a:prstGeom>
          <a:noFill/>
          <a:ln/>
        </p:spPr>
        <p:txBody>
          <a:bodyPr wrap="square" lIns="0" tIns="0" rIns="0" bIns="0"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Voice in. Career out.</a:t>
            </a:r>
            <a:endParaRPr lang="en-US" sz="4600" dirty="0"/>
          </a:p>
        </p:txBody>
      </p:sp>
      <p:sp>
        <p:nvSpPr>
          <p:cNvPr id="3" name="Text 1"/>
          <p:cNvSpPr/>
          <p:nvPr/>
        </p:nvSpPr>
        <p:spPr>
          <a:xfrm>
            <a:off x="640080" y="2880360"/>
            <a:ext cx="8046720" cy="1005840"/>
          </a:xfrm>
          <a:prstGeom prst="rect">
            <a:avLst/>
          </a:prstGeom>
          <a:noFill/>
          <a:ln/>
        </p:spPr>
        <p:txBody>
          <a:bodyPr wrap="square" lIns="0" tIns="0" rIns="0" bIns="0" rtlCol="0" anchor="ctr"/>
          <a:lstStyle/>
          <a:p>
            <a:pPr indent="0" marL="0">
              <a:buNone/>
            </a:pPr>
            <a:r>
              <a:rPr lang="en-US" sz="1600" dirty="0">
                <a:solidFill>
                  <a:srgbClr val="BFCCE5"/>
                </a:solidFill>
                <a:latin typeface="Calibri" pitchFamily="34" charset="0"/>
                <a:ea typeface="Calibri" pitchFamily="34" charset="-122"/>
                <a:cs typeface="Calibri" pitchFamily="34" charset="-120"/>
              </a:rPr>
              <a:t>Naatiq does not just match people to jobs. It makes more people matchable — and every profile it creates is an asset your competitors cannot search.</a:t>
            </a:r>
            <a:endParaRPr lang="en-US" sz="1600" dirty="0"/>
          </a:p>
        </p:txBody>
      </p:sp>
      <p:sp>
        <p:nvSpPr>
          <p:cNvPr id="4" name="Text 2"/>
          <p:cNvSpPr/>
          <p:nvPr/>
        </p:nvSpPr>
        <p:spPr>
          <a:xfrm>
            <a:off x="640080" y="4114800"/>
            <a:ext cx="5486400" cy="320040"/>
          </a:xfrm>
          <a:prstGeom prst="rect">
            <a:avLst/>
          </a:prstGeom>
          <a:noFill/>
          <a:ln/>
        </p:spPr>
        <p:txBody>
          <a:bodyPr wrap="square" lIns="0" tIns="0" rIns="0" bIns="0" rtlCol="0" anchor="ctr"/>
          <a:lstStyle/>
          <a:p>
            <a:pPr indent="0" marL="0">
              <a:buNone/>
            </a:pPr>
            <a:r>
              <a:rPr lang="en-US" sz="1300" b="1" spc="100" kern="0" dirty="0">
                <a:solidFill>
                  <a:srgbClr val="16C89A"/>
                </a:solidFill>
                <a:latin typeface="Calibri" pitchFamily="34" charset="0"/>
                <a:ea typeface="Calibri" pitchFamily="34" charset="-122"/>
                <a:cs typeface="Calibri" pitchFamily="34" charset="-120"/>
              </a:rPr>
              <a:t>What we are asking for</a:t>
            </a:r>
            <a:endParaRPr lang="en-US" sz="1300" dirty="0"/>
          </a:p>
        </p:txBody>
      </p:sp>
      <p:sp>
        <p:nvSpPr>
          <p:cNvPr id="5" name="Shape 3"/>
          <p:cNvSpPr/>
          <p:nvPr/>
        </p:nvSpPr>
        <p:spPr>
          <a:xfrm>
            <a:off x="640080" y="4526280"/>
            <a:ext cx="3291840" cy="731520"/>
          </a:xfrm>
          <a:prstGeom prst="roundRect">
            <a:avLst>
              <a:gd name="adj" fmla="val 17500"/>
            </a:avLst>
          </a:prstGeom>
          <a:solidFill>
            <a:srgbClr val="16234A"/>
          </a:solidFill>
          <a:ln w="12700">
            <a:solidFill>
              <a:srgbClr val="2A3A63"/>
            </a:solidFill>
            <a:prstDash val="solid"/>
          </a:ln>
        </p:spPr>
      </p:sp>
      <p:sp>
        <p:nvSpPr>
          <p:cNvPr id="6" name="Text 4"/>
          <p:cNvSpPr/>
          <p:nvPr/>
        </p:nvSpPr>
        <p:spPr>
          <a:xfrm>
            <a:off x="868680" y="4526280"/>
            <a:ext cx="2880360" cy="7315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pilot occupation and city</a:t>
            </a:r>
            <a:endParaRPr lang="en-US" sz="1300" dirty="0"/>
          </a:p>
        </p:txBody>
      </p:sp>
      <p:sp>
        <p:nvSpPr>
          <p:cNvPr id="7" name="Shape 5"/>
          <p:cNvSpPr/>
          <p:nvPr/>
        </p:nvSpPr>
        <p:spPr>
          <a:xfrm>
            <a:off x="4251960" y="4526280"/>
            <a:ext cx="3291840" cy="731520"/>
          </a:xfrm>
          <a:prstGeom prst="roundRect">
            <a:avLst>
              <a:gd name="adj" fmla="val 17500"/>
            </a:avLst>
          </a:prstGeom>
          <a:solidFill>
            <a:srgbClr val="16234A"/>
          </a:solidFill>
          <a:ln w="12700">
            <a:solidFill>
              <a:srgbClr val="2A3A63"/>
            </a:solidFill>
            <a:prstDash val="solid"/>
          </a:ln>
        </p:spPr>
      </p:sp>
      <p:sp>
        <p:nvSpPr>
          <p:cNvPr id="8" name="Text 6"/>
          <p:cNvSpPr/>
          <p:nvPr/>
        </p:nvSpPr>
        <p:spPr>
          <a:xfrm>
            <a:off x="4480560" y="4526280"/>
            <a:ext cx="2880360" cy="7315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Access to your placement economics</a:t>
            </a:r>
            <a:endParaRPr lang="en-US" sz="1300" dirty="0"/>
          </a:p>
        </p:txBody>
      </p:sp>
      <p:sp>
        <p:nvSpPr>
          <p:cNvPr id="9" name="Shape 7"/>
          <p:cNvSpPr/>
          <p:nvPr/>
        </p:nvSpPr>
        <p:spPr>
          <a:xfrm>
            <a:off x="7863840" y="4526280"/>
            <a:ext cx="3291840" cy="731520"/>
          </a:xfrm>
          <a:prstGeom prst="roundRect">
            <a:avLst>
              <a:gd name="adj" fmla="val 17500"/>
            </a:avLst>
          </a:prstGeom>
          <a:solidFill>
            <a:srgbClr val="16234A"/>
          </a:solidFill>
          <a:ln w="12700">
            <a:solidFill>
              <a:srgbClr val="2A3A63"/>
            </a:solidFill>
            <a:prstDash val="solid"/>
          </a:ln>
        </p:spPr>
      </p:sp>
      <p:sp>
        <p:nvSpPr>
          <p:cNvPr id="10" name="Text 8"/>
          <p:cNvSpPr/>
          <p:nvPr/>
        </p:nvSpPr>
        <p:spPr>
          <a:xfrm>
            <a:off x="8092440" y="4526280"/>
            <a:ext cx="2880360" cy="7315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named commercial sponsor</a:t>
            </a:r>
            <a:endParaRPr lang="en-US" sz="1300" dirty="0"/>
          </a:p>
        </p:txBody>
      </p:sp>
      <p:sp>
        <p:nvSpPr>
          <p:cNvPr id="11" name="Text 9"/>
          <p:cNvSpPr/>
          <p:nvPr/>
        </p:nvSpPr>
        <p:spPr>
          <a:xfrm>
            <a:off x="640080" y="5943600"/>
            <a:ext cx="8229600" cy="274320"/>
          </a:xfrm>
          <a:prstGeom prst="rect">
            <a:avLst/>
          </a:prstGeom>
          <a:noFill/>
          <a:ln/>
        </p:spPr>
        <p:txBody>
          <a:bodyPr wrap="square" lIns="0" tIns="0" rIns="0" bIns="0" rtlCol="0" anchor="ctr"/>
          <a:lstStyle/>
          <a:p>
            <a:pPr indent="0" marL="0">
              <a:buNone/>
            </a:pPr>
            <a:r>
              <a:rPr lang="en-US" sz="1150" dirty="0">
                <a:solidFill>
                  <a:srgbClr val="A6ADB8"/>
                </a:solidFill>
                <a:latin typeface="Calibri" pitchFamily="34" charset="0"/>
                <a:ea typeface="Calibri" pitchFamily="34" charset="-122"/>
                <a:cs typeface="Calibri" pitchFamily="34" charset="-120"/>
              </a:rPr>
              <a:t>Karam Judeh   ·   Rahma Al Sharif   ·   Abderrahim Laghmari</a:t>
            </a:r>
            <a:endParaRPr lang="en-US" sz="1150" dirty="0"/>
          </a:p>
        </p:txBody>
      </p:sp>
      <p:sp>
        <p:nvSpPr>
          <p:cNvPr id="12" name="Text 10"/>
          <p:cNvSpPr/>
          <p:nvPr/>
        </p:nvSpPr>
        <p:spPr>
          <a:xfrm>
            <a:off x="640080" y="6400800"/>
            <a:ext cx="1828800" cy="228600"/>
          </a:xfrm>
          <a:prstGeom prst="rect">
            <a:avLst/>
          </a:prstGeom>
          <a:noFill/>
          <a:ln/>
        </p:spPr>
        <p:txBody>
          <a:bodyPr wrap="square" lIns="0" tIns="0" rIns="0" bIns="0" rtlCol="0" anchor="ctr"/>
          <a:lstStyle/>
          <a:p>
            <a:pPr indent="0" marL="0">
              <a:buNone/>
            </a:pPr>
            <a:r>
              <a:rPr lang="en-US" sz="900" dirty="0">
                <a:solidFill>
                  <a:srgbClr val="A6ADB8"/>
                </a:solidFill>
                <a:latin typeface="Calibri" pitchFamily="34" charset="0"/>
                <a:ea typeface="Calibri" pitchFamily="34" charset="-122"/>
                <a:cs typeface="Calibri" pitchFamily="34" charset="-120"/>
              </a:rPr>
              <a:t>Naatiq</a:t>
            </a:r>
            <a:endParaRPr lang="en-US" sz="900" dirty="0"/>
          </a:p>
        </p:txBody>
      </p:sp>
      <p:sp>
        <p:nvSpPr>
          <p:cNvPr id="13" name="Text 11"/>
          <p:cNvSpPr/>
          <p:nvPr/>
        </p:nvSpPr>
        <p:spPr>
          <a:xfrm>
            <a:off x="10607040" y="6400800"/>
            <a:ext cx="914400" cy="228600"/>
          </a:xfrm>
          <a:prstGeom prst="rect">
            <a:avLst/>
          </a:prstGeom>
          <a:noFill/>
          <a:ln/>
        </p:spPr>
        <p:txBody>
          <a:bodyPr wrap="square" lIns="0" tIns="0" rIns="0" bIns="0" rtlCol="0" anchor="ctr"/>
          <a:lstStyle/>
          <a:p>
            <a:pPr algn="r" indent="0" marL="0">
              <a:buNone/>
            </a:pPr>
            <a:r>
              <a:rPr lang="en-US" sz="900" dirty="0">
                <a:solidFill>
                  <a:srgbClr val="A6ADB8"/>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Naatiq</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Naatiq — voice-first hiring for the workers your database can't see</dc:title>
  <dc:subject>PptxGenJS Presentation</dc:subject>
  <dc:creator>Karam Judeh, Rahma Al Sharif, Abderrahim Laghmari</dc:creator>
  <cp:lastModifiedBy>Karam Judeh, Rahma Al Sharif, Abderrahim Laghmari</cp:lastModifiedBy>
  <cp:revision>1</cp:revision>
  <dcterms:created xsi:type="dcterms:W3CDTF">2026-07-19T19:21:01Z</dcterms:created>
  <dcterms:modified xsi:type="dcterms:W3CDTF">2026-07-19T19:21:01Z</dcterms:modified>
</cp:coreProperties>
</file>